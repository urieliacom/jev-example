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DM Sans" pitchFamily="34" charset="0"/>
      <p:regular r:id="rId27"/>
      <p:bold r:id="rId28"/>
    </p:embeddedFont>
    <p:embeddedFont>
      <p:font typeface="JetBrains Mono" panose="02000009000000000000" pitchFamily="49" charset="0"/>
      <p:regular r:id="rId29"/>
      <p:bold r:id="rId30"/>
    </p:embeddedFont>
    <p:embeddedFont>
      <p:font typeface="Space Grotesk" pitchFamily="34" charset="0"/>
      <p:regular r:id="rId31"/>
      <p:bold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is a new kind of model: it does not write text, it returns typed probabilities. The card on the right shows what an answer looks like. The values are made up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one-minute version for the room: Jev does not write, it decides. Put it in front of or around an LLM to route, check, sort and score at a fraction of the cost. Everything after this slide shows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highlighted name is Diogo Almeida, fourth author of the InstructGPT paper (OpenAI, March 2022). He was a researcher there from 2020 to 2024; he is not an OpenAI founder. He founded TypeSafe in 2024, and Jev is its first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is not autoregressive: it does not generate tokens one by one. Because the output is typed, malformed JSON cannot happen. Every answer carries a confidence value, so your code can decide when to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email and the same question go to both. The LLM writes its answer token by token, so it takes as long as the sentence is long. Jev answers in one pass with a probability, and can answer extra questions about the same email at almost no extra time. Autoregressive versus non-autoregressive is the core architectural difference; Jev’s size and training data are unpublished.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mix of question types can go in one request, and they all run in parallel against the same state. Extra questions add little latency and cost only their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Laya was built by Nandakishor Mukkunnoth of Convai Innovations, who says he published the underlying approach in arXiv papers in March and September 2025, before Jev. Laya’s headline accuracy needs fine-tuning on your own data; the base checkpoints are close to random. The animation shows the single-question latency race at one tenth of real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psychology idea that TypeSafe borrows: LLMs play System 2, Jev plays System 1. Kahneman popularised the terms but did not coin them; he credits Stanovich and West. Stanovich and others later preferred Type 1 and Type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is loose but useful: LLMs play the slow, deliberate System 2 and Jev plays the fast, intuitive System 1. Together they work best: Jev decides around the LLM, and the LLM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scenarios come from the ByteByteGo infographic “Top 9 places to use Jev”. Each gets one slide with the idea and a diagram. Show the code after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dot: a prompt goes into Jev, and Jev picks which LLM should answer. Next: show the code for model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sits in front of the LLM. Clean inputs pass through, flagged ones stop at the block. Next: show the code for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cheap permission check for agents: safe reads run, risky actions ask, destructive ones are refused. Next: show the code for tool-call gating.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figure, about 3 cents for 1,500 emails, is the infographic’s claim, not something measured here. Next: show the code for inbox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passage is scored against the query; higher means more relevant. Next: show the code for reranking.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works as a quick judge for another model’s answers. Next: show the code for LLM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an independent decision, so the work splits across workers and the results are collected at the end. Next: show the code for bulk labeling.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latency is what makes this possible: the decision has to land before the next tick. The animation is slowed down so you can follow it. Next: show the code for real-time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answer carries a confidence value, your code can set the thresholds. Next: show the code for the confidence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figures (speed, cost) come from TypeSafe; independent tests are from Towards Data Science and user reports cited by InfoQ.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324103"/>
            <a:ext cx="4064000" cy="502920"/>
          </a:xfrm>
          <a:prstGeom prst="rect">
            <a:avLst/>
          </a:prstGeom>
          <a:noFill/>
          <a:ln/>
        </p:spPr>
        <p:txBody>
          <a:bodyPr wrap="square" lIns="0" tIns="0" rIns="0" bIns="0" rtlCol="0" anchor="t"/>
          <a:lstStyle>
            <a:lvl1pPr algn="l" indent="0" marL="0">
              <a:lnSpc>
                <a:spcPct val="115000"/>
              </a:lnSpc>
              <a:buNone/>
              <a:defRPr lang="en-US" sz="3600" dirty="0">
                <a:solidFill>
                  <a:srgbClr val="14151C"/>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3131823"/>
            <a:ext cx="10566400" cy="2913377"/>
          </a:xfrm>
          <a:prstGeom prst="rect">
            <a:avLst/>
          </a:prstGeom>
          <a:noFill/>
          <a:ln/>
        </p:spPr>
        <p:txBody>
          <a:bodyPr wrap="square" lIns="0" tIns="0" rIns="0" bIns="0" rtlCol="0" anchor="t"/>
          <a:lstStyle>
            <a:lvl1pPr algn="l" indent="0" marL="0">
              <a:lnSpc>
                <a:spcPct val="140000"/>
              </a:lnSpc>
              <a:buNone/>
              <a:defRPr lang="en-US" sz="1600" dirty="0">
                <a:solidFill>
                  <a:srgbClr val="14151C"/>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324103"/>
            <a:ext cx="4064000" cy="502920"/>
          </a:xfrm>
          <a:prstGeom prst="rect">
            <a:avLst/>
          </a:prstGeom>
          <a:noFill/>
          <a:ln/>
        </p:spPr>
        <p:txBody>
          <a:bodyPr wrap="square" lIns="0" tIns="0" rIns="0" bIns="0" rtlCol="0" anchor="t"/>
          <a:lstStyle>
            <a:lvl1pPr algn="l" indent="0" marL="0">
              <a:lnSpc>
                <a:spcPct val="115000"/>
              </a:lnSpc>
              <a:buNone/>
              <a:defRPr lang="en-US" sz="3600" dirty="0">
                <a:solidFill>
                  <a:srgbClr val="14151C"/>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3131823"/>
            <a:ext cx="10566400" cy="2913377"/>
          </a:xfrm>
          <a:prstGeom prst="rect">
            <a:avLst/>
          </a:prstGeom>
          <a:noFill/>
          <a:ln/>
        </p:spPr>
        <p:txBody>
          <a:bodyPr wrap="square" lIns="0" tIns="0" rIns="0" bIns="0" rtlCol="0" anchor="t"/>
          <a:lstStyle>
            <a:lvl1pPr algn="l" indent="0" marL="0">
              <a:lnSpc>
                <a:spcPct val="140000"/>
              </a:lnSpc>
              <a:buNone/>
              <a:defRPr lang="en-US" sz="1600" dirty="0">
                <a:solidFill>
                  <a:srgbClr val="14151C"/>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blog.bytebytego.com/p/ep227-top-9-places-to-use-jev" TargetMode="External"/><Relationship Id="rId2" Type="http://schemas.openxmlformats.org/officeDocument/2006/relationships/hyperlink" Target="https://www.infoq.com/news/2026/10/typesafe-ai-jev-released/" TargetMode="External"/><Relationship Id="rId3" Type="http://schemas.openxmlformats.org/officeDocument/2006/relationships/hyperlink" Target="https://fortune.com/2026/10/08/jev-an-ai-for-making-quick-decisions-has-been-a-viral-hit-in-silicon-valley-but-openai-is-hot-on-its-heels/" TargetMode="External"/><Relationship Id="rId4" Type="http://schemas.openxmlformats.org/officeDocument/2006/relationships/hyperlink" Target="https://www.therundown.ai/articles/chatgpt-co-creator-launches-a-new-kind-of-ai" TargetMode="External"/><Relationship Id="rId5" Type="http://schemas.openxmlformats.org/officeDocument/2006/relationships/hyperlink" Target="https://www.langchain.com/blog/building-a-harness-with-jev" TargetMode="External"/><Relationship Id="rId6" Type="http://schemas.openxmlformats.org/officeDocument/2006/relationships/hyperlink" Target="https://towardsdatascience.com/jev-vs-llms-when-ai-moves-from-generation-to-decision-making/" TargetMode="External"/><Relationship Id="rId7" Type="http://schemas.openxmlformats.org/officeDocument/2006/relationships/hyperlink" Target="https://www.eesel.ai/blog/laya-ai" TargetMode="External"/><Relationship Id="rId8" Type="http://schemas.openxmlformats.org/officeDocument/2006/relationships/hyperlink" Target="https://arxiv.org/abs/2203.02155" TargetMode="External"/><Relationship Id="rId9" Type="http://schemas.openxmlformats.org/officeDocument/2006/relationships/hyperlink" Target="https://www.mindstudio.ai/blog/jev-system-one-model-launch" TargetMode="External"/><Relationship Id="rId10" Type="http://schemas.openxmlformats.org/officeDocument/2006/relationships/hyperlink" Target="https://www.dsebastien.net/jev-and-system-one-models-a-semantic-if-statement-for-your-code/" TargetMode="External"/><Relationship Id="rId11" Type="http://schemas.openxmlformats.org/officeDocument/2006/relationships/hyperlink" Target="https://openrouter.ai/typesafe/jev-1.13" TargetMode="External"/><Relationship Id="rId12" Type="http://schemas.openxmlformats.org/officeDocument/2006/relationships/hyperlink" Target="https://docs.typesafe.ai" TargetMode="External"/><Relationship Id="rId13" Type="http://schemas.openxmlformats.org/officeDocument/2006/relationships/hyperlink" Target="https://www.lesswrong.com/w/dual-process-theory-system-1-and-system-2" TargetMode="External"/><Relationship Id="rId14" Type="http://schemas.openxmlformats.org/officeDocument/2006/relationships/slideLayout" Target="../slideLayouts/slideLayout2.xml"/><Relationship Id="rId1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5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96FF"/>
                </a:solidFill>
                <a:latin typeface="JetBrains Mono" pitchFamily="49" charset="0"/>
                <a:ea typeface="JetBrains Mono" pitchFamily="49" charset="-122"/>
                <a:cs typeface="JetBrains Mono" pitchFamily="49" charset="-120"/>
              </a:rPr>
              <a:t>TYPESAFE AI · THE FIRST SYSTEM ONE MODEL</a:t>
            </a:r>
            <a:endParaRPr lang="en-US" sz="1200" dirty="0"/>
          </a:p>
        </p:txBody>
      </p:sp>
      <p:sp>
        <p:nvSpPr>
          <p:cNvPr id="3" name="Text 1"/>
          <p:cNvSpPr/>
          <p:nvPr>
            <p:ph type="title"/>
          </p:nvPr>
        </p:nvSpPr>
        <p:spPr>
          <a:xfrm>
            <a:off x="812800" y="2499360"/>
            <a:ext cx="6278880" cy="2311400"/>
          </a:xfrm>
          <a:prstGeom prst="rect">
            <a:avLst/>
          </a:prstGeom>
          <a:noFill/>
          <a:ln/>
        </p:spPr>
        <p:txBody>
          <a:bodyPr wrap="square" lIns="0" tIns="0" rIns="0" bIns="0" rtlCol="0" anchor="t">
            <a:normAutofit/>
          </a:bodyPr>
          <a:lstStyle/>
          <a:p>
            <a:pPr algn="l" indent="0" marL="0">
              <a:lnSpc>
                <a:spcPts val="18000"/>
              </a:lnSpc>
              <a:buNone/>
            </a:pPr>
            <a:r>
              <a:rPr lang="en-US" sz="18000" b="1" i="0" dirty="0">
                <a:solidFill>
                  <a:srgbClr val="F4F1EA"/>
                </a:solidFill>
                <a:latin typeface="Space Grotesk" pitchFamily="34" charset="0"/>
                <a:ea typeface="Space Grotesk" pitchFamily="34" charset="-122"/>
                <a:cs typeface="Space Grotesk" pitchFamily="34" charset="-120"/>
              </a:rPr>
              <a:t>Jev</a:t>
            </a:r>
            <a:endParaRPr lang="en-US" sz="18000" dirty="0"/>
          </a:p>
        </p:txBody>
      </p:sp>
      <p:sp>
        <p:nvSpPr>
          <p:cNvPr id="4" name="Text 2"/>
          <p:cNvSpPr/>
          <p:nvPr/>
        </p:nvSpPr>
        <p:spPr>
          <a:xfrm>
            <a:off x="812800" y="4937760"/>
            <a:ext cx="6278880" cy="6959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4F1EA"/>
                </a:solidFill>
                <a:latin typeface="DM Sans" pitchFamily="34" charset="0"/>
                <a:ea typeface="DM Sans" pitchFamily="34" charset="-122"/>
                <a:cs typeface="DM Sans" pitchFamily="34" charset="-120"/>
              </a:rPr>
              <a:t>A model that makes decisions instead of writing text</a:t>
            </a:r>
            <a:endParaRPr lang="en-US" sz="2200" dirty="0"/>
          </a:p>
        </p:txBody>
      </p:sp>
      <p:sp>
        <p:nvSpPr>
          <p:cNvPr id="5" name="Text 3"/>
          <p:cNvSpPr/>
          <p:nvPr/>
        </p:nvSpPr>
        <p:spPr>
          <a:xfrm>
            <a:off x="812800" y="5760720"/>
            <a:ext cx="62788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A9EB2"/>
                </a:solidFill>
                <a:latin typeface="DM Sans" pitchFamily="34" charset="0"/>
                <a:ea typeface="DM Sans" pitchFamily="34" charset="-122"/>
                <a:cs typeface="DM Sans" pitchFamily="34" charset="-120"/>
              </a:rPr>
              <a:t>Origin, creator, options and nine scenarios</a:t>
            </a:r>
            <a:endParaRPr lang="en-US" sz="1600" dirty="0"/>
          </a:p>
        </p:txBody>
      </p:sp>
      <p:sp>
        <p:nvSpPr>
          <p:cNvPr id="6" name="Shape 4"/>
          <p:cNvSpPr/>
          <p:nvPr/>
        </p:nvSpPr>
        <p:spPr>
          <a:xfrm>
            <a:off x="7118350" y="1885950"/>
            <a:ext cx="4254500" cy="3002280"/>
          </a:xfrm>
          <a:prstGeom prst="roundRect">
            <a:avLst>
              <a:gd name="adj" fmla="val 4865"/>
            </a:avLst>
          </a:prstGeom>
          <a:solidFill>
            <a:srgbClr val="1F2130"/>
          </a:solidFill>
          <a:ln w="12700">
            <a:solidFill>
              <a:srgbClr val="35384D"/>
            </a:solidFill>
            <a:prstDash val="solid"/>
          </a:ln>
        </p:spPr>
      </p:sp>
      <p:sp>
        <p:nvSpPr>
          <p:cNvPr id="7" name="Text 5"/>
          <p:cNvSpPr/>
          <p:nvPr/>
        </p:nvSpPr>
        <p:spPr>
          <a:xfrm>
            <a:off x="7376160" y="2143760"/>
            <a:ext cx="38510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EB2"/>
                </a:solidFill>
                <a:latin typeface="DM Sans" pitchFamily="34" charset="0"/>
                <a:ea typeface="DM Sans" pitchFamily="34" charset="-122"/>
                <a:cs typeface="DM Sans" pitchFamily="34" charset="-120"/>
              </a:rPr>
              <a:t>Agent tool call: “drop the staging database”</a:t>
            </a:r>
            <a:endParaRPr lang="en-US" sz="1200" dirty="0"/>
          </a:p>
        </p:txBody>
      </p:sp>
      <p:sp>
        <p:nvSpPr>
          <p:cNvPr id="8" name="Text 6"/>
          <p:cNvSpPr/>
          <p:nvPr/>
        </p:nvSpPr>
        <p:spPr>
          <a:xfrm>
            <a:off x="7376160" y="2534920"/>
            <a:ext cx="60864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allow</a:t>
            </a:r>
            <a:endParaRPr lang="en-US" sz="1600" dirty="0"/>
          </a:p>
        </p:txBody>
      </p:sp>
      <p:sp>
        <p:nvSpPr>
          <p:cNvPr id="9" name="Text 7"/>
          <p:cNvSpPr/>
          <p:nvPr/>
        </p:nvSpPr>
        <p:spPr>
          <a:xfrm>
            <a:off x="10529824" y="2534920"/>
            <a:ext cx="585216"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F4F1EA"/>
                </a:solidFill>
                <a:latin typeface="JetBrains Mono" pitchFamily="49" charset="0"/>
                <a:ea typeface="JetBrains Mono" pitchFamily="49" charset="-122"/>
                <a:cs typeface="JetBrains Mono" pitchFamily="49" charset="-120"/>
              </a:rPr>
              <a:t>0.07</a:t>
            </a:r>
            <a:endParaRPr lang="en-US" sz="1600" dirty="0"/>
          </a:p>
        </p:txBody>
      </p:sp>
      <p:sp>
        <p:nvSpPr>
          <p:cNvPr id="10" name="Shape 8"/>
          <p:cNvSpPr/>
          <p:nvPr/>
        </p:nvSpPr>
        <p:spPr>
          <a:xfrm>
            <a:off x="7376160" y="2895600"/>
            <a:ext cx="3759200" cy="88900"/>
          </a:xfrm>
          <a:prstGeom prst="roundRect">
            <a:avLst>
              <a:gd name="adj" fmla="val 50000"/>
            </a:avLst>
          </a:prstGeom>
          <a:solidFill>
            <a:srgbClr val="35384D"/>
          </a:solidFill>
          <a:ln/>
        </p:spPr>
      </p:sp>
      <p:sp>
        <p:nvSpPr>
          <p:cNvPr id="11" name="Shape 9"/>
          <p:cNvSpPr/>
          <p:nvPr/>
        </p:nvSpPr>
        <p:spPr>
          <a:xfrm>
            <a:off x="7376160" y="2895600"/>
            <a:ext cx="260350" cy="88900"/>
          </a:xfrm>
          <a:prstGeom prst="roundRect">
            <a:avLst>
              <a:gd name="adj" fmla="val 50000"/>
            </a:avLst>
          </a:prstGeom>
          <a:solidFill>
            <a:srgbClr val="A996FF"/>
          </a:solidFill>
          <a:ln/>
        </p:spPr>
      </p:sp>
      <p:sp>
        <p:nvSpPr>
          <p:cNvPr id="12" name="Text 10"/>
          <p:cNvSpPr/>
          <p:nvPr/>
        </p:nvSpPr>
        <p:spPr>
          <a:xfrm>
            <a:off x="7376160" y="3162300"/>
            <a:ext cx="4038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ask</a:t>
            </a:r>
            <a:endParaRPr lang="en-US" sz="1600" dirty="0"/>
          </a:p>
        </p:txBody>
      </p:sp>
      <p:sp>
        <p:nvSpPr>
          <p:cNvPr id="13" name="Text 11"/>
          <p:cNvSpPr/>
          <p:nvPr/>
        </p:nvSpPr>
        <p:spPr>
          <a:xfrm>
            <a:off x="10529824" y="3162300"/>
            <a:ext cx="585216"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F4F1EA"/>
                </a:solidFill>
                <a:latin typeface="JetBrains Mono" pitchFamily="49" charset="0"/>
                <a:ea typeface="JetBrains Mono" pitchFamily="49" charset="-122"/>
                <a:cs typeface="JetBrains Mono" pitchFamily="49" charset="-120"/>
              </a:rPr>
              <a:t>0.21</a:t>
            </a:r>
            <a:endParaRPr lang="en-US" sz="1600" dirty="0"/>
          </a:p>
        </p:txBody>
      </p:sp>
      <p:sp>
        <p:nvSpPr>
          <p:cNvPr id="14" name="Shape 12"/>
          <p:cNvSpPr/>
          <p:nvPr/>
        </p:nvSpPr>
        <p:spPr>
          <a:xfrm>
            <a:off x="7376160" y="3522980"/>
            <a:ext cx="3759200" cy="88900"/>
          </a:xfrm>
          <a:prstGeom prst="roundRect">
            <a:avLst>
              <a:gd name="adj" fmla="val 50000"/>
            </a:avLst>
          </a:prstGeom>
          <a:solidFill>
            <a:srgbClr val="35384D"/>
          </a:solidFill>
          <a:ln/>
        </p:spPr>
      </p:sp>
      <p:sp>
        <p:nvSpPr>
          <p:cNvPr id="15" name="Shape 13"/>
          <p:cNvSpPr/>
          <p:nvPr/>
        </p:nvSpPr>
        <p:spPr>
          <a:xfrm>
            <a:off x="7376160" y="3522980"/>
            <a:ext cx="787400" cy="88900"/>
          </a:xfrm>
          <a:prstGeom prst="roundRect">
            <a:avLst>
              <a:gd name="adj" fmla="val 50000"/>
            </a:avLst>
          </a:prstGeom>
          <a:solidFill>
            <a:srgbClr val="F2A83B"/>
          </a:solidFill>
          <a:ln/>
        </p:spPr>
      </p:sp>
      <p:sp>
        <p:nvSpPr>
          <p:cNvPr id="16" name="Text 14"/>
          <p:cNvSpPr/>
          <p:nvPr/>
        </p:nvSpPr>
        <p:spPr>
          <a:xfrm>
            <a:off x="7376160" y="3789680"/>
            <a:ext cx="59550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deny</a:t>
            </a:r>
            <a:endParaRPr lang="en-US" sz="1600" dirty="0"/>
          </a:p>
        </p:txBody>
      </p:sp>
      <p:sp>
        <p:nvSpPr>
          <p:cNvPr id="17" name="Text 15"/>
          <p:cNvSpPr/>
          <p:nvPr/>
        </p:nvSpPr>
        <p:spPr>
          <a:xfrm>
            <a:off x="10529824" y="3789680"/>
            <a:ext cx="585216"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F4F1EA"/>
                </a:solidFill>
                <a:latin typeface="JetBrains Mono" pitchFamily="49" charset="0"/>
                <a:ea typeface="JetBrains Mono" pitchFamily="49" charset="-122"/>
                <a:cs typeface="JetBrains Mono" pitchFamily="49" charset="-120"/>
              </a:rPr>
              <a:t>0.72</a:t>
            </a:r>
            <a:endParaRPr lang="en-US" sz="1600" dirty="0"/>
          </a:p>
        </p:txBody>
      </p:sp>
      <p:sp>
        <p:nvSpPr>
          <p:cNvPr id="18" name="Shape 16"/>
          <p:cNvSpPr/>
          <p:nvPr/>
        </p:nvSpPr>
        <p:spPr>
          <a:xfrm>
            <a:off x="7376160" y="4150360"/>
            <a:ext cx="3759200" cy="88900"/>
          </a:xfrm>
          <a:prstGeom prst="roundRect">
            <a:avLst>
              <a:gd name="adj" fmla="val 50000"/>
            </a:avLst>
          </a:prstGeom>
          <a:solidFill>
            <a:srgbClr val="35384D"/>
          </a:solidFill>
          <a:ln/>
        </p:spPr>
      </p:sp>
      <p:sp>
        <p:nvSpPr>
          <p:cNvPr id="19" name="Shape 17"/>
          <p:cNvSpPr/>
          <p:nvPr/>
        </p:nvSpPr>
        <p:spPr>
          <a:xfrm>
            <a:off x="7376160" y="4150360"/>
            <a:ext cx="2705100" cy="88900"/>
          </a:xfrm>
          <a:prstGeom prst="roundRect">
            <a:avLst>
              <a:gd name="adj" fmla="val 50000"/>
            </a:avLst>
          </a:prstGeom>
          <a:solidFill>
            <a:srgbClr val="F4F1EA"/>
          </a:solidFill>
          <a:ln/>
        </p:spPr>
      </p:sp>
      <p:sp>
        <p:nvSpPr>
          <p:cNvPr id="20" name="Text 18"/>
          <p:cNvSpPr/>
          <p:nvPr/>
        </p:nvSpPr>
        <p:spPr>
          <a:xfrm>
            <a:off x="7376160" y="4417060"/>
            <a:ext cx="38510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EB2"/>
                </a:solidFill>
                <a:latin typeface="DM Sans" pitchFamily="34" charset="0"/>
                <a:ea typeface="DM Sans" pitchFamily="34" charset="-122"/>
                <a:cs typeface="DM Sans" pitchFamily="34" charset="-120"/>
              </a:rPr>
              <a:t>Illustrative output of choice(allow, ask, deny)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OVERVIEW</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Jev in a nutshell</a:t>
            </a:r>
            <a:endParaRPr lang="en-US" sz="3600" dirty="0"/>
          </a:p>
        </p:txBody>
      </p:sp>
      <p:sp>
        <p:nvSpPr>
          <p:cNvPr id="4" name="Text 2"/>
          <p:cNvSpPr/>
          <p:nvPr/>
        </p:nvSpPr>
        <p:spPr>
          <a:xfrm>
            <a:off x="812800" y="1884680"/>
            <a:ext cx="10883392"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4151C"/>
                </a:solidFill>
                <a:latin typeface="DM Sans" pitchFamily="34" charset="0"/>
                <a:ea typeface="DM Sans" pitchFamily="34" charset="-122"/>
                <a:cs typeface="DM Sans" pitchFamily="34" charset="-120"/>
              </a:rPr>
              <a:t>Jev makes the quick decisions around your AI, so the expensive model only does the work that needs it.</a:t>
            </a:r>
            <a:endParaRPr lang="en-US" sz="2200" dirty="0"/>
          </a:p>
        </p:txBody>
      </p:sp>
      <p:sp>
        <p:nvSpPr>
          <p:cNvPr id="5" name="Shape 3"/>
          <p:cNvSpPr/>
          <p:nvPr/>
        </p:nvSpPr>
        <p:spPr>
          <a:xfrm>
            <a:off x="815975" y="2835275"/>
            <a:ext cx="3378200" cy="1812290"/>
          </a:xfrm>
          <a:prstGeom prst="roundRect">
            <a:avLst>
              <a:gd name="adj" fmla="val 6833"/>
            </a:avLst>
          </a:prstGeom>
          <a:solidFill>
            <a:srgbClr val="FBF9F4"/>
          </a:solidFill>
          <a:ln w="6350">
            <a:solidFill>
              <a:srgbClr val="D8D2C4"/>
            </a:solidFill>
            <a:prstDash val="solid"/>
          </a:ln>
        </p:spPr>
      </p:sp>
      <p:sp>
        <p:nvSpPr>
          <p:cNvPr id="6" name="Text 4"/>
          <p:cNvSpPr/>
          <p:nvPr/>
        </p:nvSpPr>
        <p:spPr>
          <a:xfrm>
            <a:off x="1021080" y="3040380"/>
            <a:ext cx="30570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WHAT IT IS</a:t>
            </a:r>
            <a:endParaRPr lang="en-US" sz="1200" dirty="0"/>
          </a:p>
        </p:txBody>
      </p:sp>
      <p:sp>
        <p:nvSpPr>
          <p:cNvPr id="7" name="Text 5"/>
          <p:cNvSpPr/>
          <p:nvPr/>
        </p:nvSpPr>
        <p:spPr>
          <a:xfrm>
            <a:off x="1021080" y="3304540"/>
            <a:ext cx="3057030"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51C"/>
                </a:solidFill>
                <a:latin typeface="DM Sans" pitchFamily="34" charset="0"/>
                <a:ea typeface="DM Sans" pitchFamily="34" charset="-122"/>
                <a:cs typeface="DM Sans" pitchFamily="34" charset="-120"/>
              </a:rPr>
              <a:t>A model that picks an answer from options you define, with a probability for each. It never writes prose.</a:t>
            </a:r>
            <a:endParaRPr lang="en-US" sz="1600" dirty="0"/>
          </a:p>
        </p:txBody>
      </p:sp>
      <p:sp>
        <p:nvSpPr>
          <p:cNvPr id="8" name="Shape 6"/>
          <p:cNvSpPr/>
          <p:nvPr/>
        </p:nvSpPr>
        <p:spPr>
          <a:xfrm>
            <a:off x="4403725" y="2835275"/>
            <a:ext cx="3378200" cy="1812290"/>
          </a:xfrm>
          <a:prstGeom prst="roundRect">
            <a:avLst>
              <a:gd name="adj" fmla="val 6833"/>
            </a:avLst>
          </a:prstGeom>
          <a:solidFill>
            <a:srgbClr val="FBF9F4"/>
          </a:solidFill>
          <a:ln w="6350">
            <a:solidFill>
              <a:srgbClr val="D8D2C4"/>
            </a:solidFill>
            <a:prstDash val="solid"/>
          </a:ln>
        </p:spPr>
      </p:sp>
      <p:sp>
        <p:nvSpPr>
          <p:cNvPr id="9" name="Text 7"/>
          <p:cNvSpPr/>
          <p:nvPr/>
        </p:nvSpPr>
        <p:spPr>
          <a:xfrm>
            <a:off x="4608830" y="3040380"/>
            <a:ext cx="30570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WHY IT HELPS</a:t>
            </a:r>
            <a:endParaRPr lang="en-US" sz="1200" dirty="0"/>
          </a:p>
        </p:txBody>
      </p:sp>
      <p:sp>
        <p:nvSpPr>
          <p:cNvPr id="10" name="Text 8"/>
          <p:cNvSpPr/>
          <p:nvPr/>
        </p:nvSpPr>
        <p:spPr>
          <a:xfrm>
            <a:off x="4608830" y="3304540"/>
            <a:ext cx="3057030"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51C"/>
                </a:solidFill>
                <a:latin typeface="DM Sans" pitchFamily="34" charset="0"/>
                <a:ea typeface="DM Sans" pitchFamily="34" charset="-122"/>
                <a:cs typeface="DM Sans" pitchFamily="34" charset="-120"/>
              </a:rPr>
              <a:t>Fast and cheap enough to run on every request: 70–500 ms and $0.042 per million input tokens.</a:t>
            </a:r>
            <a:endParaRPr lang="en-US" sz="1600" dirty="0"/>
          </a:p>
        </p:txBody>
      </p:sp>
      <p:sp>
        <p:nvSpPr>
          <p:cNvPr id="11" name="Shape 9"/>
          <p:cNvSpPr/>
          <p:nvPr/>
        </p:nvSpPr>
        <p:spPr>
          <a:xfrm>
            <a:off x="7991475" y="2835275"/>
            <a:ext cx="3378200" cy="1812290"/>
          </a:xfrm>
          <a:prstGeom prst="roundRect">
            <a:avLst>
              <a:gd name="adj" fmla="val 6833"/>
            </a:avLst>
          </a:prstGeom>
          <a:solidFill>
            <a:srgbClr val="FBF9F4"/>
          </a:solidFill>
          <a:ln w="6350">
            <a:solidFill>
              <a:srgbClr val="D8D2C4"/>
            </a:solidFill>
            <a:prstDash val="solid"/>
          </a:ln>
        </p:spPr>
      </p:sp>
      <p:sp>
        <p:nvSpPr>
          <p:cNvPr id="12" name="Text 10"/>
          <p:cNvSpPr/>
          <p:nvPr/>
        </p:nvSpPr>
        <p:spPr>
          <a:xfrm>
            <a:off x="8196580" y="3040380"/>
            <a:ext cx="30570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WHERE IT FITS</a:t>
            </a:r>
            <a:endParaRPr lang="en-US" sz="1200" dirty="0"/>
          </a:p>
        </p:txBody>
      </p:sp>
      <p:sp>
        <p:nvSpPr>
          <p:cNvPr id="13" name="Text 11"/>
          <p:cNvSpPr/>
          <p:nvPr/>
        </p:nvSpPr>
        <p:spPr>
          <a:xfrm>
            <a:off x="8196580" y="3304540"/>
            <a:ext cx="3057030"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51C"/>
                </a:solidFill>
                <a:latin typeface="DM Sans" pitchFamily="34" charset="0"/>
                <a:ea typeface="DM Sans" pitchFamily="34" charset="-122"/>
                <a:cs typeface="DM Sans" pitchFamily="34" charset="-120"/>
              </a:rPr>
              <a:t>The many small decisions around your AI: routing, safety checks, triage, labeling and scoring.</a:t>
            </a:r>
            <a:endParaRPr lang="en-US" sz="1600" dirty="0"/>
          </a:p>
        </p:txBody>
      </p:sp>
      <p:sp>
        <p:nvSpPr>
          <p:cNvPr id="14" name="Text 12"/>
          <p:cNvSpPr/>
          <p:nvPr/>
        </p:nvSpPr>
        <p:spPr>
          <a:xfrm>
            <a:off x="812800" y="4889500"/>
            <a:ext cx="10566400" cy="589280"/>
          </a:xfrm>
          <a:prstGeom prst="roundRect">
            <a:avLst>
              <a:gd name="adj" fmla="val 21552"/>
            </a:avLst>
          </a:prstGeom>
          <a:solidFill>
            <a:srgbClr val="14151C"/>
          </a:solidFill>
          <a:ln/>
        </p:spPr>
        <p:txBody>
          <a:bodyPr wrap="square" lIns="191403" tIns="115203" rIns="0" bIns="89803" rtlCol="0" anchor="t">
            <a:normAutofit/>
          </a:bodyPr>
          <a:lstStyle/>
          <a:p>
            <a:pPr algn="l" indent="0" marL="0">
              <a:lnSpc>
                <a:spcPts val="2240"/>
              </a:lnSpc>
              <a:buNone/>
            </a:pPr>
            <a:r>
              <a:rPr lang="en-US" sz="1600" dirty="0">
                <a:solidFill>
                  <a:srgbClr val="F4F1EA"/>
                </a:solidFill>
                <a:latin typeface="DM Sans" pitchFamily="34" charset="0"/>
                <a:ea typeface="DM Sans" pitchFamily="34" charset="-122"/>
                <a:cs typeface="DM Sans" pitchFamily="34" charset="-120"/>
              </a:rPr>
              <a:t>An LLM is the expert who writes the report. Jev is the clerk who sorts the mail in an instant.</a:t>
            </a:r>
            <a:endParaRPr lang="en-US" sz="1600" dirty="0"/>
          </a:p>
        </p:txBody>
      </p:sp>
      <p:sp>
        <p:nvSpPr>
          <p:cNvPr id="15" name="Text 13"/>
          <p:cNvSpPr/>
          <p:nvPr/>
        </p:nvSpPr>
        <p:spPr>
          <a:xfrm>
            <a:off x="812800" y="626872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Speed and cost figures are TypeSafe’s.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THE MAN BEHIND JEV</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Diogo Almeida</a:t>
            </a:r>
            <a:endParaRPr lang="en-US" sz="3600" dirty="0"/>
          </a:p>
        </p:txBody>
      </p:sp>
      <p:sp>
        <p:nvSpPr>
          <p:cNvPr id="4" name="Shape 2"/>
          <p:cNvSpPr/>
          <p:nvPr/>
        </p:nvSpPr>
        <p:spPr>
          <a:xfrm>
            <a:off x="819150" y="1911350"/>
            <a:ext cx="4813300" cy="3543300"/>
          </a:xfrm>
          <a:prstGeom prst="roundRect">
            <a:avLst>
              <a:gd name="adj" fmla="val 1254"/>
            </a:avLst>
          </a:prstGeom>
          <a:solidFill>
            <a:srgbClr val="FFFDF8"/>
          </a:solidFill>
          <a:ln w="12700">
            <a:solidFill>
              <a:srgbClr val="D8D2C4"/>
            </a:solidFill>
            <a:prstDash val="solid"/>
          </a:ln>
          <a:effectLst>
            <a:outerShdw sx="100000" sy="100000" kx="0" ky="0" algn="bl" rotWithShape="0" blurRad="203200" dist="76200" dir="5400000">
              <a:srgbClr val="C9C3B4">
                <a:alpha val="100000"/>
              </a:srgbClr>
            </a:outerShdw>
          </a:effectLst>
        </p:spPr>
      </p:sp>
      <p:sp>
        <p:nvSpPr>
          <p:cNvPr id="5" name="Text 3"/>
          <p:cNvSpPr/>
          <p:nvPr/>
        </p:nvSpPr>
        <p:spPr>
          <a:xfrm>
            <a:off x="1102360" y="2143761"/>
            <a:ext cx="4374286"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JetBrains Mono" pitchFamily="49" charset="0"/>
                <a:ea typeface="JetBrains Mono" pitchFamily="49" charset="-122"/>
                <a:cs typeface="JetBrains Mono" pitchFamily="49" charset="-120"/>
              </a:rPr>
              <a:t>arXiv:2203.02155 [cs.CL] · 4 Mar 2022</a:t>
            </a:r>
            <a:endParaRPr lang="en-US" sz="1200" dirty="0"/>
          </a:p>
        </p:txBody>
      </p:sp>
      <p:sp>
        <p:nvSpPr>
          <p:cNvPr id="6" name="Text 4"/>
          <p:cNvSpPr/>
          <p:nvPr/>
        </p:nvSpPr>
        <p:spPr>
          <a:xfrm>
            <a:off x="1102360" y="2453641"/>
            <a:ext cx="4374286"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51C"/>
                </a:solidFill>
                <a:latin typeface="Georgia" pitchFamily="18" charset="0"/>
                <a:ea typeface="Georgia" pitchFamily="18" charset="-122"/>
                <a:cs typeface="Georgia" pitchFamily="18" charset="-120"/>
              </a:rPr>
              <a:t>Training language models to follow instructions with human feedback</a:t>
            </a:r>
            <a:endParaRPr lang="en-US" sz="1600" dirty="0"/>
          </a:p>
        </p:txBody>
      </p:sp>
      <p:sp>
        <p:nvSpPr>
          <p:cNvPr id="7" name="Text 5"/>
          <p:cNvSpPr/>
          <p:nvPr/>
        </p:nvSpPr>
        <p:spPr>
          <a:xfrm>
            <a:off x="1102360" y="3088641"/>
            <a:ext cx="101338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Long Ouyang</a:t>
            </a:r>
            <a:endParaRPr lang="en-US" sz="1200" dirty="0"/>
          </a:p>
        </p:txBody>
      </p:sp>
      <p:sp>
        <p:nvSpPr>
          <p:cNvPr id="8" name="Text 6"/>
          <p:cNvSpPr/>
          <p:nvPr/>
        </p:nvSpPr>
        <p:spPr>
          <a:xfrm>
            <a:off x="2115741" y="3088641"/>
            <a:ext cx="62979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Jeff Wu</a:t>
            </a:r>
            <a:endParaRPr lang="en-US" sz="1200" dirty="0"/>
          </a:p>
        </p:txBody>
      </p:sp>
      <p:sp>
        <p:nvSpPr>
          <p:cNvPr id="9" name="Text 7"/>
          <p:cNvSpPr/>
          <p:nvPr/>
        </p:nvSpPr>
        <p:spPr>
          <a:xfrm>
            <a:off x="2754868" y="3088641"/>
            <a:ext cx="71501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Xu Jiang</a:t>
            </a:r>
            <a:endParaRPr lang="en-US" sz="1200" dirty="0"/>
          </a:p>
        </p:txBody>
      </p:sp>
      <p:sp>
        <p:nvSpPr>
          <p:cNvPr id="10" name="Text 8"/>
          <p:cNvSpPr/>
          <p:nvPr/>
        </p:nvSpPr>
        <p:spPr>
          <a:xfrm>
            <a:off x="3469878" y="3088641"/>
            <a:ext cx="1284049" cy="198120"/>
          </a:xfrm>
          <a:custGeom>
            <a:avLst/>
            <a:gdLst/>
            <a:ahLst/>
            <a:cxnLst/>
            <a:rect l="l" t="t" r="r" b="b"/>
            <a:pathLst>
              <a:path w="1284049" h="198120">
                <a:moveTo>
                  <a:pt x="38100" y="0"/>
                </a:moveTo>
                <a:lnTo>
                  <a:pt x="1245949" y="0"/>
                </a:lnTo>
                <a:arcTo hR="38100" wR="38100" stAng="16200000" swAng="5400000"/>
                <a:lnTo>
                  <a:pt x="1284049" y="160020"/>
                </a:lnTo>
                <a:arcTo hR="38100" wR="38100" stAng="0" swAng="5400000"/>
                <a:lnTo>
                  <a:pt x="38100" y="198120"/>
                </a:lnTo>
                <a:arcTo hR="38100" wR="38100" stAng="5400000" swAng="5400000"/>
                <a:lnTo>
                  <a:pt x="0" y="38100"/>
                </a:lnTo>
                <a:arcTo hR="38100" wR="38100" stAng="10800000" swAng="5400000"/>
                <a:close/>
              </a:path>
            </a:pathLst>
          </a:custGeom>
          <a:solidFill>
            <a:srgbClr val="F2A83B"/>
          </a:solidFill>
          <a:ln/>
        </p:spPr>
        <p:txBody>
          <a:bodyPr wrap="none" lIns="0" tIns="0" rIns="0" bIns="0" rtlCol="0" anchor="ctr">
            <a:normAutofit/>
          </a:bodyPr>
          <a:lstStyle/>
          <a:p>
            <a:pPr algn="ctr" indent="0" marL="0">
              <a:lnSpc>
                <a:spcPts val="1560"/>
              </a:lnSpc>
              <a:buNone/>
            </a:pPr>
            <a:r>
              <a:rPr lang="en-US" sz="1200" b="1" dirty="0">
                <a:solidFill>
                  <a:srgbClr val="14151C"/>
                </a:solidFill>
                <a:latin typeface="Georgia" pitchFamily="18" charset="0"/>
                <a:ea typeface="Georgia" pitchFamily="18" charset="-122"/>
                <a:cs typeface="Georgia" pitchFamily="18" charset="-120"/>
              </a:rPr>
              <a:t>Diogo Almeida</a:t>
            </a:r>
            <a:endParaRPr lang="en-US" sz="1200" dirty="0"/>
          </a:p>
        </p:txBody>
      </p:sp>
      <p:sp>
        <p:nvSpPr>
          <p:cNvPr id="11" name="Text 9"/>
          <p:cNvSpPr/>
          <p:nvPr/>
        </p:nvSpPr>
        <p:spPr>
          <a:xfrm>
            <a:off x="1102360" y="3324861"/>
            <a:ext cx="158829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Carroll L. Wainwright</a:t>
            </a:r>
            <a:endParaRPr lang="en-US" sz="1200" dirty="0"/>
          </a:p>
        </p:txBody>
      </p:sp>
      <p:sp>
        <p:nvSpPr>
          <p:cNvPr id="12" name="Text 10"/>
          <p:cNvSpPr/>
          <p:nvPr/>
        </p:nvSpPr>
        <p:spPr>
          <a:xfrm>
            <a:off x="2690654" y="3324861"/>
            <a:ext cx="12060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Pamela Mishkin</a:t>
            </a:r>
            <a:endParaRPr lang="en-US" sz="1200" dirty="0"/>
          </a:p>
        </p:txBody>
      </p:sp>
      <p:sp>
        <p:nvSpPr>
          <p:cNvPr id="13" name="Text 11"/>
          <p:cNvSpPr/>
          <p:nvPr/>
        </p:nvSpPr>
        <p:spPr>
          <a:xfrm>
            <a:off x="3896678" y="3324861"/>
            <a:ext cx="107756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Chong Zhang</a:t>
            </a:r>
            <a:endParaRPr lang="en-US" sz="1200" dirty="0"/>
          </a:p>
        </p:txBody>
      </p:sp>
      <p:sp>
        <p:nvSpPr>
          <p:cNvPr id="14" name="Text 12"/>
          <p:cNvSpPr/>
          <p:nvPr/>
        </p:nvSpPr>
        <p:spPr>
          <a:xfrm>
            <a:off x="1102360" y="3561080"/>
            <a:ext cx="131087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Sandhini Agarwal</a:t>
            </a:r>
            <a:endParaRPr lang="en-US" sz="1200" dirty="0"/>
          </a:p>
        </p:txBody>
      </p:sp>
      <p:sp>
        <p:nvSpPr>
          <p:cNvPr id="15" name="Text 13"/>
          <p:cNvSpPr/>
          <p:nvPr/>
        </p:nvSpPr>
        <p:spPr>
          <a:xfrm>
            <a:off x="2413238" y="3561080"/>
            <a:ext cx="11539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Katarina Slama</a:t>
            </a:r>
            <a:endParaRPr lang="en-US" sz="1200" dirty="0"/>
          </a:p>
        </p:txBody>
      </p:sp>
      <p:sp>
        <p:nvSpPr>
          <p:cNvPr id="16" name="Text 14"/>
          <p:cNvSpPr/>
          <p:nvPr/>
        </p:nvSpPr>
        <p:spPr>
          <a:xfrm>
            <a:off x="3567192" y="3561080"/>
            <a:ext cx="70627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Alex Ray</a:t>
            </a:r>
            <a:endParaRPr lang="en-US" sz="1200" dirty="0"/>
          </a:p>
        </p:txBody>
      </p:sp>
      <p:sp>
        <p:nvSpPr>
          <p:cNvPr id="17" name="Text 15"/>
          <p:cNvSpPr/>
          <p:nvPr/>
        </p:nvSpPr>
        <p:spPr>
          <a:xfrm>
            <a:off x="4273471" y="3561080"/>
            <a:ext cx="126282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John Schulman</a:t>
            </a:r>
            <a:endParaRPr lang="en-US" sz="1200" dirty="0"/>
          </a:p>
        </p:txBody>
      </p:sp>
      <p:sp>
        <p:nvSpPr>
          <p:cNvPr id="18" name="Text 16"/>
          <p:cNvSpPr/>
          <p:nvPr/>
        </p:nvSpPr>
        <p:spPr>
          <a:xfrm>
            <a:off x="1102360" y="3797300"/>
            <a:ext cx="98075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Jacob Hilton</a:t>
            </a:r>
            <a:endParaRPr lang="en-US" sz="1200" dirty="0"/>
          </a:p>
        </p:txBody>
      </p:sp>
      <p:sp>
        <p:nvSpPr>
          <p:cNvPr id="19" name="Text 17"/>
          <p:cNvSpPr/>
          <p:nvPr/>
        </p:nvSpPr>
        <p:spPr>
          <a:xfrm>
            <a:off x="2083118" y="3797300"/>
            <a:ext cx="103147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Fraser Kelton</a:t>
            </a:r>
            <a:endParaRPr lang="en-US" sz="1200" dirty="0"/>
          </a:p>
        </p:txBody>
      </p:sp>
      <p:sp>
        <p:nvSpPr>
          <p:cNvPr id="20" name="Text 18"/>
          <p:cNvSpPr/>
          <p:nvPr/>
        </p:nvSpPr>
        <p:spPr>
          <a:xfrm>
            <a:off x="3114596" y="3797300"/>
            <a:ext cx="89535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Luke Miller</a:t>
            </a:r>
            <a:endParaRPr lang="en-US" sz="1200" dirty="0"/>
          </a:p>
        </p:txBody>
      </p:sp>
      <p:sp>
        <p:nvSpPr>
          <p:cNvPr id="21" name="Text 19"/>
          <p:cNvSpPr/>
          <p:nvPr/>
        </p:nvSpPr>
        <p:spPr>
          <a:xfrm>
            <a:off x="4009946" y="3797300"/>
            <a:ext cx="12506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Maddie Simens</a:t>
            </a:r>
            <a:endParaRPr lang="en-US" sz="1200" dirty="0"/>
          </a:p>
        </p:txBody>
      </p:sp>
      <p:sp>
        <p:nvSpPr>
          <p:cNvPr id="22" name="Text 20"/>
          <p:cNvSpPr/>
          <p:nvPr/>
        </p:nvSpPr>
        <p:spPr>
          <a:xfrm>
            <a:off x="1102360" y="4033520"/>
            <a:ext cx="112934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Amanda Askell</a:t>
            </a:r>
            <a:endParaRPr lang="en-US" sz="1200" dirty="0"/>
          </a:p>
        </p:txBody>
      </p:sp>
      <p:sp>
        <p:nvSpPr>
          <p:cNvPr id="23" name="Text 21"/>
          <p:cNvSpPr/>
          <p:nvPr/>
        </p:nvSpPr>
        <p:spPr>
          <a:xfrm>
            <a:off x="2231708" y="4033520"/>
            <a:ext cx="113069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Peter Welinder</a:t>
            </a:r>
            <a:endParaRPr lang="en-US" sz="1200" dirty="0"/>
          </a:p>
        </p:txBody>
      </p:sp>
      <p:sp>
        <p:nvSpPr>
          <p:cNvPr id="24" name="Text 22"/>
          <p:cNvSpPr/>
          <p:nvPr/>
        </p:nvSpPr>
        <p:spPr>
          <a:xfrm>
            <a:off x="3362404" y="4033520"/>
            <a:ext cx="115784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Paul Christiano</a:t>
            </a:r>
            <a:endParaRPr lang="en-US" sz="1200" dirty="0"/>
          </a:p>
        </p:txBody>
      </p:sp>
      <p:sp>
        <p:nvSpPr>
          <p:cNvPr id="25" name="Text 23"/>
          <p:cNvSpPr/>
          <p:nvPr/>
        </p:nvSpPr>
        <p:spPr>
          <a:xfrm>
            <a:off x="4520248" y="4033520"/>
            <a:ext cx="77771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Jan Leike</a:t>
            </a:r>
            <a:endParaRPr lang="en-US" sz="1200" dirty="0"/>
          </a:p>
        </p:txBody>
      </p:sp>
      <p:sp>
        <p:nvSpPr>
          <p:cNvPr id="26" name="Text 24"/>
          <p:cNvSpPr/>
          <p:nvPr/>
        </p:nvSpPr>
        <p:spPr>
          <a:xfrm>
            <a:off x="1102360" y="4269741"/>
            <a:ext cx="89487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3465A"/>
                </a:solidFill>
                <a:latin typeface="Georgia" pitchFamily="18" charset="0"/>
                <a:ea typeface="Georgia" pitchFamily="18" charset="-122"/>
                <a:cs typeface="Georgia" pitchFamily="18" charset="-120"/>
              </a:rPr>
              <a:t>Ryan Lowe</a:t>
            </a:r>
            <a:endParaRPr lang="en-US" sz="1200" dirty="0"/>
          </a:p>
        </p:txBody>
      </p:sp>
      <p:sp>
        <p:nvSpPr>
          <p:cNvPr id="27" name="Text 25"/>
          <p:cNvSpPr/>
          <p:nvPr/>
        </p:nvSpPr>
        <p:spPr>
          <a:xfrm>
            <a:off x="1102360" y="4594861"/>
            <a:ext cx="4374286"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JetBrains Mono" pitchFamily="49" charset="0"/>
                <a:ea typeface="JetBrains Mono" pitchFamily="49" charset="-122"/>
                <a:cs typeface="JetBrains Mono" pitchFamily="49" charset="-120"/>
              </a:rPr>
              <a:t>OpenAI</a:t>
            </a:r>
            <a:endParaRPr lang="en-US" sz="1200" dirty="0"/>
          </a:p>
        </p:txBody>
      </p:sp>
      <p:sp>
        <p:nvSpPr>
          <p:cNvPr id="28" name="Shape 26"/>
          <p:cNvSpPr/>
          <p:nvPr/>
        </p:nvSpPr>
        <p:spPr>
          <a:xfrm>
            <a:off x="5895975" y="1908175"/>
            <a:ext cx="5480050" cy="1111250"/>
          </a:xfrm>
          <a:prstGeom prst="roundRect">
            <a:avLst>
              <a:gd name="adj" fmla="val 8857"/>
            </a:avLst>
          </a:prstGeom>
          <a:solidFill>
            <a:srgbClr val="FBF9F4"/>
          </a:solidFill>
          <a:ln w="6350">
            <a:solidFill>
              <a:srgbClr val="D8D2C4"/>
            </a:solidFill>
            <a:prstDash val="solid"/>
          </a:ln>
        </p:spPr>
      </p:sp>
      <p:sp>
        <p:nvSpPr>
          <p:cNvPr id="29" name="Text 27"/>
          <p:cNvSpPr/>
          <p:nvPr/>
        </p:nvSpPr>
        <p:spPr>
          <a:xfrm>
            <a:off x="6126480" y="2062480"/>
            <a:ext cx="5169611" cy="230426"/>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5434E0"/>
                </a:solidFill>
                <a:latin typeface="JetBrains Mono" pitchFamily="49" charset="0"/>
                <a:ea typeface="JetBrains Mono" pitchFamily="49" charset="-122"/>
                <a:cs typeface="JetBrains Mono" pitchFamily="49" charset="-120"/>
              </a:rPr>
              <a:t>AT OPENAI, 2020–2024</a:t>
            </a:r>
            <a:endParaRPr lang="en-US" sz="1159" dirty="0"/>
          </a:p>
        </p:txBody>
      </p:sp>
      <p:sp>
        <p:nvSpPr>
          <p:cNvPr id="30" name="Text 28"/>
          <p:cNvSpPr/>
          <p:nvPr/>
        </p:nvSpPr>
        <p:spPr>
          <a:xfrm>
            <a:off x="6126480" y="2318307"/>
            <a:ext cx="5169611" cy="572214"/>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14151C"/>
                </a:solidFill>
                <a:latin typeface="DM Sans" pitchFamily="34" charset="0"/>
                <a:ea typeface="DM Sans" pitchFamily="34" charset="-122"/>
                <a:cs typeface="DM Sans" pitchFamily="34" charset="-120"/>
              </a:rPr>
              <a:t>Co-author of InstructGPT, the human-feedback work behind ChatGPT. He is the fourth of 20 authors.</a:t>
            </a:r>
            <a:endParaRPr lang="en-US" sz="1540" dirty="0"/>
          </a:p>
        </p:txBody>
      </p:sp>
      <p:sp>
        <p:nvSpPr>
          <p:cNvPr id="31" name="Shape 29"/>
          <p:cNvSpPr/>
          <p:nvPr/>
        </p:nvSpPr>
        <p:spPr>
          <a:xfrm>
            <a:off x="5895975" y="3127375"/>
            <a:ext cx="5480050" cy="1416050"/>
          </a:xfrm>
          <a:prstGeom prst="roundRect">
            <a:avLst>
              <a:gd name="adj" fmla="val 6951"/>
            </a:avLst>
          </a:prstGeom>
          <a:solidFill>
            <a:srgbClr val="FBF9F4"/>
          </a:solidFill>
          <a:ln w="6350">
            <a:solidFill>
              <a:srgbClr val="D8D2C4"/>
            </a:solidFill>
            <a:prstDash val="solid"/>
          </a:ln>
        </p:spPr>
      </p:sp>
      <p:sp>
        <p:nvSpPr>
          <p:cNvPr id="32" name="Text 30"/>
          <p:cNvSpPr/>
          <p:nvPr/>
        </p:nvSpPr>
        <p:spPr>
          <a:xfrm>
            <a:off x="6126480" y="3281680"/>
            <a:ext cx="5169611" cy="236696"/>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5434E0"/>
                </a:solidFill>
                <a:latin typeface="JetBrains Mono" pitchFamily="49" charset="0"/>
                <a:ea typeface="JetBrains Mono" pitchFamily="49" charset="-122"/>
                <a:cs typeface="JetBrains Mono" pitchFamily="49" charset="-120"/>
              </a:rPr>
              <a:t>TODAY</a:t>
            </a:r>
            <a:endParaRPr lang="en-US" sz="1196" dirty="0"/>
          </a:p>
        </p:txBody>
      </p:sp>
      <p:sp>
        <p:nvSpPr>
          <p:cNvPr id="33" name="Text 31"/>
          <p:cNvSpPr/>
          <p:nvPr/>
        </p:nvSpPr>
        <p:spPr>
          <a:xfrm>
            <a:off x="6126480" y="3543776"/>
            <a:ext cx="5169611" cy="870744"/>
          </a:xfrm>
          <a:prstGeom prst="rect">
            <a:avLst/>
          </a:prstGeom>
          <a:noFill/>
          <a:ln/>
        </p:spPr>
        <p:txBody>
          <a:bodyPr wrap="square" lIns="0" tIns="0" rIns="0" bIns="0" rtlCol="0" anchor="t">
            <a:normAutofit/>
          </a:bodyPr>
          <a:lstStyle/>
          <a:p>
            <a:pPr algn="l" indent="0" marL="0">
              <a:lnSpc>
                <a:spcPts val="2219"/>
              </a:lnSpc>
              <a:buNone/>
            </a:pPr>
            <a:r>
              <a:rPr lang="en-US" sz="1585" dirty="0">
                <a:solidFill>
                  <a:srgbClr val="14151C"/>
                </a:solidFill>
                <a:latin typeface="DM Sans" pitchFamily="34" charset="0"/>
                <a:ea typeface="DM Sans" pitchFamily="34" charset="-122"/>
                <a:cs typeface="DM Sans" pitchFamily="34" charset="-120"/>
              </a:rPr>
              <a:t>CEO and co-founder of TypeSafe AI, the company behind Jev. He left OpenAI in 2024 to build models for software, not for chat.</a:t>
            </a:r>
            <a:endParaRPr lang="en-US" sz="1585" dirty="0"/>
          </a:p>
        </p:txBody>
      </p:sp>
      <p:sp>
        <p:nvSpPr>
          <p:cNvPr id="34" name="Text 32"/>
          <p:cNvSpPr/>
          <p:nvPr/>
        </p:nvSpPr>
        <p:spPr>
          <a:xfrm>
            <a:off x="5895975" y="4651375"/>
            <a:ext cx="5480050" cy="806450"/>
          </a:xfrm>
          <a:prstGeom prst="roundRect">
            <a:avLst>
              <a:gd name="adj" fmla="val 12205"/>
            </a:avLst>
          </a:prstGeom>
          <a:solidFill>
            <a:srgbClr val="FBF9F4"/>
          </a:solidFill>
          <a:ln w="6350">
            <a:solidFill>
              <a:srgbClr val="D8D2C4"/>
            </a:solidFill>
            <a:prstDash val="solid"/>
          </a:ln>
        </p:spPr>
        <p:txBody>
          <a:bodyPr wrap="none" lIns="0" tIns="125477" rIns="0" bIns="100077" rtlCol="0" anchor="t">
            <a:normAutofit/>
          </a:bodyPr>
          <a:lstStyle/>
          <a:p>
            <a:pPr algn="ctr" indent="0" marL="0">
              <a:lnSpc>
                <a:spcPts val="2163"/>
              </a:lnSpc>
              <a:buNone/>
            </a:pPr>
            <a:r>
              <a:rPr lang="en-US" sz="1545" dirty="0">
                <a:solidFill>
                  <a:srgbClr val="43465A"/>
                </a:solidFill>
                <a:latin typeface="DM Sans" pitchFamily="34" charset="0"/>
                <a:ea typeface="DM Sans" pitchFamily="34" charset="-122"/>
                <a:cs typeface="DM Sans" pitchFamily="34" charset="-120"/>
              </a:rPr>
              <a:t>He joined OpenAI in 2020; he is not one of its founders.</a:t>
            </a:r>
            <a:endParaRPr lang="en-US" sz="1545" dirty="0"/>
          </a:p>
        </p:txBody>
      </p:sp>
      <p:sp>
        <p:nvSpPr>
          <p:cNvPr id="35" name="Text 33"/>
          <p:cNvSpPr/>
          <p:nvPr/>
        </p:nvSpPr>
        <p:spPr>
          <a:xfrm>
            <a:off x="812800" y="626872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The paper panel is recreated from the arXiv listing, not a scan. Sources: arXiv, AI Engineer speaker bio, Fortune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5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96FF"/>
                </a:solidFill>
                <a:latin typeface="JetBrains Mono" pitchFamily="49" charset="0"/>
                <a:ea typeface="JetBrains Mono" pitchFamily="49" charset="-122"/>
                <a:cs typeface="JetBrains Mono" pitchFamily="49" charset="-120"/>
              </a:rPr>
              <a:t>WHAT IT DOES</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Typed decisions, not text</a:t>
            </a:r>
            <a:endParaRPr lang="en-US" sz="3600" dirty="0"/>
          </a:p>
        </p:txBody>
      </p:sp>
      <p:sp>
        <p:nvSpPr>
          <p:cNvPr id="4" name="Text 2"/>
          <p:cNvSpPr/>
          <p:nvPr/>
        </p:nvSpPr>
        <p:spPr>
          <a:xfrm>
            <a:off x="812800" y="1884680"/>
            <a:ext cx="10883392"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F4F1EA"/>
                </a:solidFill>
                <a:latin typeface="DM Sans" pitchFamily="34" charset="0"/>
                <a:ea typeface="DM Sans" pitchFamily="34" charset="-122"/>
                <a:cs typeface="DM Sans" pitchFamily="34" charset="-120"/>
              </a:rPr>
              <a:t>Send a state and some typed questions. Jev answers them all in one pass, with probabilities and a confidence value.</a:t>
            </a:r>
            <a:endParaRPr lang="en-US" sz="2200" dirty="0"/>
          </a:p>
        </p:txBody>
      </p:sp>
      <p:sp>
        <p:nvSpPr>
          <p:cNvPr id="5" name="Shape 3"/>
          <p:cNvSpPr/>
          <p:nvPr/>
        </p:nvSpPr>
        <p:spPr>
          <a:xfrm>
            <a:off x="819150" y="3488691"/>
            <a:ext cx="2019300" cy="1094740"/>
          </a:xfrm>
          <a:prstGeom prst="roundRect">
            <a:avLst>
              <a:gd name="adj" fmla="val 11021"/>
            </a:avLst>
          </a:prstGeom>
          <a:solidFill>
            <a:srgbClr val="1F2130"/>
          </a:solidFill>
          <a:ln w="12700">
            <a:solidFill>
              <a:srgbClr val="35384D"/>
            </a:solidFill>
            <a:prstDash val="solid"/>
          </a:ln>
        </p:spPr>
      </p:sp>
      <p:sp>
        <p:nvSpPr>
          <p:cNvPr id="6" name="Text 4"/>
          <p:cNvSpPr/>
          <p:nvPr/>
        </p:nvSpPr>
        <p:spPr>
          <a:xfrm>
            <a:off x="1000760" y="3670300"/>
            <a:ext cx="17068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state</a:t>
            </a:r>
            <a:endParaRPr lang="en-US" sz="1600" dirty="0"/>
          </a:p>
        </p:txBody>
      </p:sp>
      <p:sp>
        <p:nvSpPr>
          <p:cNvPr id="7" name="Text 5"/>
          <p:cNvSpPr/>
          <p:nvPr/>
        </p:nvSpPr>
        <p:spPr>
          <a:xfrm>
            <a:off x="1000760" y="4005580"/>
            <a:ext cx="170688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9EB2"/>
                </a:solidFill>
                <a:latin typeface="DM Sans" pitchFamily="34" charset="0"/>
                <a:ea typeface="DM Sans" pitchFamily="34" charset="-122"/>
                <a:cs typeface="DM Sans" pitchFamily="34" charset="-120"/>
              </a:rPr>
              <a:t>text, JSON or name and value pairs</a:t>
            </a:r>
            <a:endParaRPr lang="en-US" sz="1200" dirty="0"/>
          </a:p>
        </p:txBody>
      </p:sp>
      <p:pic>
        <p:nvPicPr>
          <p:cNvPr id="8" name="Image 0" descr="arrow-right">    </p:cNvPr>
          <p:cNvPicPr>
            <a:picLocks noChangeAspect="1"/>
          </p:cNvPicPr>
          <p:nvPr/>
        </p:nvPicPr>
        <p:blipFill>
          <a:blip r:embed="rId1"/>
          <a:srcRect l="0" r="0" t="0" b="0"/>
          <a:stretch/>
        </p:blipFill>
        <p:spPr>
          <a:xfrm>
            <a:off x="2997200" y="3934461"/>
            <a:ext cx="406400" cy="203200"/>
          </a:xfrm>
          <a:prstGeom prst="rect">
            <a:avLst/>
          </a:prstGeom>
        </p:spPr>
      </p:pic>
      <p:sp>
        <p:nvSpPr>
          <p:cNvPr id="9" name="Shape 6"/>
          <p:cNvSpPr/>
          <p:nvPr/>
        </p:nvSpPr>
        <p:spPr>
          <a:xfrm>
            <a:off x="3556000" y="3492500"/>
            <a:ext cx="1270000" cy="1087120"/>
          </a:xfrm>
          <a:prstGeom prst="roundRect">
            <a:avLst>
              <a:gd name="adj" fmla="val 11682"/>
            </a:avLst>
          </a:prstGeom>
          <a:solidFill>
            <a:srgbClr val="5434E0"/>
          </a:solidFill>
          <a:ln/>
        </p:spPr>
      </p:sp>
      <p:sp>
        <p:nvSpPr>
          <p:cNvPr id="10" name="Text 7"/>
          <p:cNvSpPr/>
          <p:nvPr/>
        </p:nvSpPr>
        <p:spPr>
          <a:xfrm>
            <a:off x="3908782" y="3721100"/>
            <a:ext cx="564356" cy="416560"/>
          </a:xfrm>
          <a:prstGeom prst="rect">
            <a:avLst/>
          </a:prstGeom>
          <a:noFill/>
          <a:ln/>
        </p:spPr>
        <p:txBody>
          <a:bodyPr wrap="square" lIns="0" tIns="0" rIns="0" bIns="0" rtlCol="0" anchor="t">
            <a:normAutofit/>
          </a:bodyPr>
          <a:lstStyle/>
          <a:p>
            <a:pPr algn="ctr" indent="0" marL="0">
              <a:lnSpc>
                <a:spcPts val="3080"/>
              </a:lnSpc>
              <a:buNone/>
            </a:pPr>
            <a:r>
              <a:rPr lang="en-US" sz="2200" b="1" dirty="0">
                <a:solidFill>
                  <a:srgbClr val="F4F1EA"/>
                </a:solidFill>
                <a:latin typeface="Space Grotesk" pitchFamily="34" charset="0"/>
                <a:ea typeface="Space Grotesk" pitchFamily="34" charset="-122"/>
                <a:cs typeface="Space Grotesk" pitchFamily="34" charset="-120"/>
              </a:rPr>
              <a:t>Jev</a:t>
            </a:r>
            <a:endParaRPr lang="en-US" sz="2200" dirty="0"/>
          </a:p>
        </p:txBody>
      </p:sp>
      <p:sp>
        <p:nvSpPr>
          <p:cNvPr id="11" name="Text 8"/>
          <p:cNvSpPr/>
          <p:nvPr/>
        </p:nvSpPr>
        <p:spPr>
          <a:xfrm>
            <a:off x="3809238" y="4137661"/>
            <a:ext cx="76352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4DCFF"/>
                </a:solidFill>
                <a:latin typeface="DM Sans" pitchFamily="34" charset="0"/>
                <a:ea typeface="DM Sans" pitchFamily="34" charset="-122"/>
                <a:cs typeface="DM Sans" pitchFamily="34" charset="-120"/>
              </a:rPr>
              <a:t>one pass</a:t>
            </a:r>
            <a:endParaRPr lang="en-US" sz="1200" dirty="0"/>
          </a:p>
        </p:txBody>
      </p:sp>
      <p:pic>
        <p:nvPicPr>
          <p:cNvPr id="12" name="Image 1" descr="arrow-right">    </p:cNvPr>
          <p:cNvPicPr>
            <a:picLocks noChangeAspect="1"/>
          </p:cNvPicPr>
          <p:nvPr/>
        </p:nvPicPr>
        <p:blipFill>
          <a:blip r:embed="rId2"/>
          <a:srcRect l="0" r="0" t="0" b="0"/>
          <a:stretch/>
        </p:blipFill>
        <p:spPr>
          <a:xfrm>
            <a:off x="4978400" y="3934461"/>
            <a:ext cx="406400" cy="203200"/>
          </a:xfrm>
          <a:prstGeom prst="rect">
            <a:avLst/>
          </a:prstGeom>
        </p:spPr>
      </p:pic>
      <p:sp>
        <p:nvSpPr>
          <p:cNvPr id="13" name="Shape 9"/>
          <p:cNvSpPr/>
          <p:nvPr/>
        </p:nvSpPr>
        <p:spPr>
          <a:xfrm>
            <a:off x="5543550" y="2843530"/>
            <a:ext cx="5829300" cy="718820"/>
          </a:xfrm>
          <a:prstGeom prst="roundRect">
            <a:avLst>
              <a:gd name="adj" fmla="val 13251"/>
            </a:avLst>
          </a:prstGeom>
          <a:solidFill>
            <a:srgbClr val="1F2130"/>
          </a:solidFill>
          <a:ln w="12700">
            <a:solidFill>
              <a:srgbClr val="35384D"/>
            </a:solidFill>
            <a:prstDash val="solid"/>
          </a:ln>
        </p:spPr>
      </p:sp>
      <p:sp>
        <p:nvSpPr>
          <p:cNvPr id="14" name="Text 10"/>
          <p:cNvSpPr/>
          <p:nvPr/>
        </p:nvSpPr>
        <p:spPr>
          <a:xfrm>
            <a:off x="5725160" y="2948941"/>
            <a:ext cx="56300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choice</a:t>
            </a:r>
            <a:endParaRPr lang="en-US" sz="1600" dirty="0"/>
          </a:p>
        </p:txBody>
      </p:sp>
      <p:sp>
        <p:nvSpPr>
          <p:cNvPr id="15" name="Text 11"/>
          <p:cNvSpPr/>
          <p:nvPr/>
        </p:nvSpPr>
        <p:spPr>
          <a:xfrm>
            <a:off x="5725160" y="3258820"/>
            <a:ext cx="563006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9EB2"/>
                </a:solidFill>
                <a:latin typeface="DM Sans" pitchFamily="34" charset="0"/>
                <a:ea typeface="DM Sans" pitchFamily="34" charset="-122"/>
                <a:cs typeface="DM Sans" pitchFamily="34" charset="-120"/>
              </a:rPr>
              <a:t>the picked option and a probability for each</a:t>
            </a:r>
            <a:endParaRPr lang="en-US" sz="1200" dirty="0"/>
          </a:p>
        </p:txBody>
      </p:sp>
      <p:sp>
        <p:nvSpPr>
          <p:cNvPr id="16" name="Shape 12"/>
          <p:cNvSpPr/>
          <p:nvPr/>
        </p:nvSpPr>
        <p:spPr>
          <a:xfrm>
            <a:off x="5543550" y="3676650"/>
            <a:ext cx="5829300" cy="718820"/>
          </a:xfrm>
          <a:prstGeom prst="roundRect">
            <a:avLst>
              <a:gd name="adj" fmla="val 13251"/>
            </a:avLst>
          </a:prstGeom>
          <a:solidFill>
            <a:srgbClr val="1F2130"/>
          </a:solidFill>
          <a:ln w="12700">
            <a:solidFill>
              <a:srgbClr val="35384D"/>
            </a:solidFill>
            <a:prstDash val="solid"/>
          </a:ln>
        </p:spPr>
      </p:sp>
      <p:sp>
        <p:nvSpPr>
          <p:cNvPr id="17" name="Text 13"/>
          <p:cNvSpPr/>
          <p:nvPr/>
        </p:nvSpPr>
        <p:spPr>
          <a:xfrm>
            <a:off x="5725160" y="3782061"/>
            <a:ext cx="56300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score</a:t>
            </a:r>
            <a:endParaRPr lang="en-US" sz="1600" dirty="0"/>
          </a:p>
        </p:txBody>
      </p:sp>
      <p:sp>
        <p:nvSpPr>
          <p:cNvPr id="18" name="Text 14"/>
          <p:cNvSpPr/>
          <p:nvPr/>
        </p:nvSpPr>
        <p:spPr>
          <a:xfrm>
            <a:off x="5725160" y="4091941"/>
            <a:ext cx="563006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9EB2"/>
                </a:solidFill>
                <a:latin typeface="DM Sans" pitchFamily="34" charset="0"/>
                <a:ea typeface="DM Sans" pitchFamily="34" charset="-122"/>
                <a:cs typeface="DM Sans" pitchFamily="34" charset="-120"/>
              </a:rPr>
              <a:t>a value on your scale, plus probabilities</a:t>
            </a:r>
            <a:endParaRPr lang="en-US" sz="1200" dirty="0"/>
          </a:p>
        </p:txBody>
      </p:sp>
      <p:sp>
        <p:nvSpPr>
          <p:cNvPr id="19" name="Shape 15"/>
          <p:cNvSpPr/>
          <p:nvPr/>
        </p:nvSpPr>
        <p:spPr>
          <a:xfrm>
            <a:off x="5543550" y="4509770"/>
            <a:ext cx="5829300" cy="718820"/>
          </a:xfrm>
          <a:prstGeom prst="roundRect">
            <a:avLst>
              <a:gd name="adj" fmla="val 13251"/>
            </a:avLst>
          </a:prstGeom>
          <a:solidFill>
            <a:srgbClr val="1F2130"/>
          </a:solidFill>
          <a:ln w="12700">
            <a:solidFill>
              <a:srgbClr val="35384D"/>
            </a:solidFill>
            <a:prstDash val="solid"/>
          </a:ln>
        </p:spPr>
      </p:sp>
      <p:sp>
        <p:nvSpPr>
          <p:cNvPr id="20" name="Text 16"/>
          <p:cNvSpPr/>
          <p:nvPr/>
        </p:nvSpPr>
        <p:spPr>
          <a:xfrm>
            <a:off x="5725160" y="4615180"/>
            <a:ext cx="56300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noul</a:t>
            </a:r>
            <a:endParaRPr lang="en-US" sz="1600" dirty="0"/>
          </a:p>
        </p:txBody>
      </p:sp>
      <p:sp>
        <p:nvSpPr>
          <p:cNvPr id="21" name="Text 17"/>
          <p:cNvSpPr/>
          <p:nvPr/>
        </p:nvSpPr>
        <p:spPr>
          <a:xfrm>
            <a:off x="5725160" y="4925061"/>
            <a:ext cx="563006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9EB2"/>
                </a:solidFill>
                <a:latin typeface="DM Sans" pitchFamily="34" charset="0"/>
                <a:ea typeface="DM Sans" pitchFamily="34" charset="-122"/>
                <a:cs typeface="DM Sans" pitchFamily="34" charset="-120"/>
              </a:rPr>
              <a:t>the probability that a statement is true</a:t>
            </a:r>
            <a:endParaRPr lang="en-US" sz="1200" dirty="0"/>
          </a:p>
        </p:txBody>
      </p:sp>
      <p:sp>
        <p:nvSpPr>
          <p:cNvPr id="22" name="Text 18"/>
          <p:cNvSpPr/>
          <p:nvPr/>
        </p:nvSpPr>
        <p:spPr>
          <a:xfrm>
            <a:off x="812800" y="6268721"/>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9A9EB2"/>
                </a:solidFill>
                <a:latin typeface="DM Sans" pitchFamily="34" charset="0"/>
                <a:ea typeface="DM Sans" pitchFamily="34" charset="-122"/>
                <a:cs typeface="DM Sans" pitchFamily="34" charset="-120"/>
              </a:rPr>
              <a:t>Sources: TypeSafe docs, InfoQ, LangChain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5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96FF"/>
                </a:solidFill>
                <a:latin typeface="JetBrains Mono" pitchFamily="49" charset="0"/>
                <a:ea typeface="JetBrains Mono" pitchFamily="49" charset="-122"/>
                <a:cs typeface="JetBrains Mono" pitchFamily="49" charset="-120"/>
              </a:rPr>
              <a:t>ARCHITECTURE</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Jev and LLMs</a:t>
            </a:r>
            <a:endParaRPr lang="en-US" sz="3600" dirty="0"/>
          </a:p>
        </p:txBody>
      </p:sp>
      <p:pic>
        <p:nvPicPr>
          <p:cNvPr id="4" name="Image 0" descr="web embed">    </p:cNvPr>
          <p:cNvPicPr>
            <a:picLocks noChangeAspect="1"/>
          </p:cNvPicPr>
          <p:nvPr/>
        </p:nvPicPr>
        <p:blipFill>
          <a:blip r:embed="rId1"/>
          <a:srcRect l="0" r="0" t="0" b="0"/>
          <a:stretch/>
        </p:blipFill>
        <p:spPr>
          <a:xfrm>
            <a:off x="812800" y="1841500"/>
            <a:ext cx="10566400" cy="3429000"/>
          </a:xfrm>
          <a:prstGeom prst="rect">
            <a:avLst/>
          </a:prstGeom>
        </p:spPr>
      </p:pic>
      <p:sp>
        <p:nvSpPr>
          <p:cNvPr id="5" name="Text 2"/>
          <p:cNvSpPr/>
          <p:nvPr/>
        </p:nvSpPr>
        <p:spPr>
          <a:xfrm>
            <a:off x="812800" y="6253482"/>
            <a:ext cx="1088339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9EB2"/>
                </a:solidFill>
                <a:latin typeface="DM Sans" pitchFamily="34" charset="0"/>
                <a:ea typeface="DM Sans" pitchFamily="34" charset="-122"/>
                <a:cs typeface="DM Sans" pitchFamily="34" charset="-120"/>
              </a:rPr>
              <a:t>Illustrative. TypeSafe has not published Jev’s size, architecture details or training data; this is from its own descriptions and independent tests.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OPTIONS</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Three question types</a:t>
            </a:r>
            <a:endParaRPr lang="en-US" sz="3600" dirty="0"/>
          </a:p>
        </p:txBody>
      </p:sp>
      <p:sp>
        <p:nvSpPr>
          <p:cNvPr id="4" name="Shape 2"/>
          <p:cNvSpPr/>
          <p:nvPr/>
        </p:nvSpPr>
        <p:spPr>
          <a:xfrm>
            <a:off x="815975" y="2009775"/>
            <a:ext cx="3378200" cy="2702560"/>
          </a:xfrm>
          <a:prstGeom prst="roundRect">
            <a:avLst>
              <a:gd name="adj" fmla="val 4582"/>
            </a:avLst>
          </a:prstGeom>
          <a:solidFill>
            <a:srgbClr val="FBF9F4"/>
          </a:solidFill>
          <a:ln w="6350">
            <a:solidFill>
              <a:srgbClr val="D8D2C4"/>
            </a:solidFill>
            <a:prstDash val="solid"/>
          </a:ln>
        </p:spPr>
      </p:sp>
      <p:sp>
        <p:nvSpPr>
          <p:cNvPr id="5" name="Text 3"/>
          <p:cNvSpPr/>
          <p:nvPr/>
        </p:nvSpPr>
        <p:spPr>
          <a:xfrm>
            <a:off x="1071880" y="2265682"/>
            <a:ext cx="295238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CHOICE</a:t>
            </a:r>
            <a:endParaRPr lang="en-US" sz="1200" dirty="0"/>
          </a:p>
        </p:txBody>
      </p:sp>
      <p:sp>
        <p:nvSpPr>
          <p:cNvPr id="6" name="Text 4"/>
          <p:cNvSpPr/>
          <p:nvPr/>
        </p:nvSpPr>
        <p:spPr>
          <a:xfrm>
            <a:off x="1071880" y="2580639"/>
            <a:ext cx="295238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151C"/>
                </a:solidFill>
                <a:latin typeface="Space Grotesk" pitchFamily="34" charset="0"/>
                <a:ea typeface="Space Grotesk" pitchFamily="34" charset="-122"/>
                <a:cs typeface="Space Grotesk" pitchFamily="34" charset="-120"/>
              </a:rPr>
              <a:t>Pick one option</a:t>
            </a:r>
            <a:endParaRPr lang="en-US" sz="2200" dirty="0"/>
          </a:p>
        </p:txBody>
      </p:sp>
      <p:sp>
        <p:nvSpPr>
          <p:cNvPr id="7" name="Text 5"/>
          <p:cNvSpPr/>
          <p:nvPr/>
        </p:nvSpPr>
        <p:spPr>
          <a:xfrm>
            <a:off x="1071880" y="3003550"/>
            <a:ext cx="2952382"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Works like a switch. Returns the choice, a probability for each option and a confidence value.</a:t>
            </a:r>
            <a:endParaRPr lang="en-US" sz="1600" dirty="0"/>
          </a:p>
        </p:txBody>
      </p:sp>
      <p:sp>
        <p:nvSpPr>
          <p:cNvPr id="8" name="Text 6"/>
          <p:cNvSpPr/>
          <p:nvPr/>
        </p:nvSpPr>
        <p:spPr>
          <a:xfrm>
            <a:off x="1071880" y="4243071"/>
            <a:ext cx="29523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272"/>
                </a:solidFill>
                <a:latin typeface="DM Sans" pitchFamily="34" charset="0"/>
                <a:ea typeface="DM Sans" pitchFamily="34" charset="-122"/>
                <a:cs typeface="DM Sans" pitchFamily="34" charset="-120"/>
              </a:rPr>
              <a:t>Used in scenarios 1, 3, 4, 7, 8, 9</a:t>
            </a:r>
            <a:endParaRPr lang="en-US" sz="1200" dirty="0"/>
          </a:p>
        </p:txBody>
      </p:sp>
      <p:sp>
        <p:nvSpPr>
          <p:cNvPr id="9" name="Shape 7"/>
          <p:cNvSpPr/>
          <p:nvPr/>
        </p:nvSpPr>
        <p:spPr>
          <a:xfrm>
            <a:off x="4403725" y="2009775"/>
            <a:ext cx="3378200" cy="2702560"/>
          </a:xfrm>
          <a:prstGeom prst="roundRect">
            <a:avLst>
              <a:gd name="adj" fmla="val 4582"/>
            </a:avLst>
          </a:prstGeom>
          <a:solidFill>
            <a:srgbClr val="FBF9F4"/>
          </a:solidFill>
          <a:ln w="6350">
            <a:solidFill>
              <a:srgbClr val="D8D2C4"/>
            </a:solidFill>
            <a:prstDash val="solid"/>
          </a:ln>
        </p:spPr>
      </p:sp>
      <p:sp>
        <p:nvSpPr>
          <p:cNvPr id="10" name="Text 8"/>
          <p:cNvSpPr/>
          <p:nvPr/>
        </p:nvSpPr>
        <p:spPr>
          <a:xfrm>
            <a:off x="4659630" y="2265682"/>
            <a:ext cx="295238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NOUL</a:t>
            </a:r>
            <a:endParaRPr lang="en-US" sz="1200" dirty="0"/>
          </a:p>
        </p:txBody>
      </p:sp>
      <p:sp>
        <p:nvSpPr>
          <p:cNvPr id="11" name="Text 9"/>
          <p:cNvSpPr/>
          <p:nvPr/>
        </p:nvSpPr>
        <p:spPr>
          <a:xfrm>
            <a:off x="4659630" y="2580639"/>
            <a:ext cx="295238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151C"/>
                </a:solidFill>
                <a:latin typeface="Space Grotesk" pitchFamily="34" charset="0"/>
                <a:ea typeface="Space Grotesk" pitchFamily="34" charset="-122"/>
                <a:cs typeface="Space Grotesk" pitchFamily="34" charset="-120"/>
              </a:rPr>
              <a:t>Yes or no</a:t>
            </a:r>
            <a:endParaRPr lang="en-US" sz="2200" dirty="0"/>
          </a:p>
        </p:txBody>
      </p:sp>
      <p:sp>
        <p:nvSpPr>
          <p:cNvPr id="12" name="Text 10"/>
          <p:cNvSpPr/>
          <p:nvPr/>
        </p:nvSpPr>
        <p:spPr>
          <a:xfrm>
            <a:off x="4659630" y="3003550"/>
            <a:ext cx="2952382"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Works like an if. Returns a number from 0 to 1: the probability that a statement is true.</a:t>
            </a:r>
            <a:endParaRPr lang="en-US" sz="1600" dirty="0"/>
          </a:p>
        </p:txBody>
      </p:sp>
      <p:sp>
        <p:nvSpPr>
          <p:cNvPr id="13" name="Text 11"/>
          <p:cNvSpPr/>
          <p:nvPr/>
        </p:nvSpPr>
        <p:spPr>
          <a:xfrm>
            <a:off x="4659630" y="4243071"/>
            <a:ext cx="29523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272"/>
                </a:solidFill>
                <a:latin typeface="DM Sans" pitchFamily="34" charset="0"/>
                <a:ea typeface="DM Sans" pitchFamily="34" charset="-122"/>
                <a:cs typeface="DM Sans" pitchFamily="34" charset="-120"/>
              </a:rPr>
              <a:t>Used in scenario 2</a:t>
            </a:r>
            <a:endParaRPr lang="en-US" sz="1200" dirty="0"/>
          </a:p>
        </p:txBody>
      </p:sp>
      <p:sp>
        <p:nvSpPr>
          <p:cNvPr id="14" name="Shape 12"/>
          <p:cNvSpPr/>
          <p:nvPr/>
        </p:nvSpPr>
        <p:spPr>
          <a:xfrm>
            <a:off x="7991475" y="2009775"/>
            <a:ext cx="3378200" cy="2702560"/>
          </a:xfrm>
          <a:prstGeom prst="roundRect">
            <a:avLst>
              <a:gd name="adj" fmla="val 4582"/>
            </a:avLst>
          </a:prstGeom>
          <a:solidFill>
            <a:srgbClr val="FBF9F4"/>
          </a:solidFill>
          <a:ln w="6350">
            <a:solidFill>
              <a:srgbClr val="D8D2C4"/>
            </a:solidFill>
            <a:prstDash val="solid"/>
          </a:ln>
        </p:spPr>
      </p:sp>
      <p:sp>
        <p:nvSpPr>
          <p:cNvPr id="15" name="Text 13"/>
          <p:cNvSpPr/>
          <p:nvPr/>
        </p:nvSpPr>
        <p:spPr>
          <a:xfrm>
            <a:off x="8247380" y="2265682"/>
            <a:ext cx="295238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SCORE</a:t>
            </a:r>
            <a:endParaRPr lang="en-US" sz="1200" dirty="0"/>
          </a:p>
        </p:txBody>
      </p:sp>
      <p:sp>
        <p:nvSpPr>
          <p:cNvPr id="16" name="Text 14"/>
          <p:cNvSpPr/>
          <p:nvPr/>
        </p:nvSpPr>
        <p:spPr>
          <a:xfrm>
            <a:off x="8247380" y="2580639"/>
            <a:ext cx="295238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151C"/>
                </a:solidFill>
                <a:latin typeface="Space Grotesk" pitchFamily="34" charset="0"/>
                <a:ea typeface="Space Grotesk" pitchFamily="34" charset="-122"/>
                <a:cs typeface="Space Grotesk" pitchFamily="34" charset="-120"/>
              </a:rPr>
              <a:t>Rate on a scale</a:t>
            </a:r>
            <a:endParaRPr lang="en-US" sz="2200" dirty="0"/>
          </a:p>
        </p:txBody>
      </p:sp>
      <p:sp>
        <p:nvSpPr>
          <p:cNvPr id="17" name="Text 15"/>
          <p:cNvSpPr/>
          <p:nvPr/>
        </p:nvSpPr>
        <p:spPr>
          <a:xfrm>
            <a:off x="8247380" y="3003550"/>
            <a:ext cx="2952382"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Rates the state on levels you describe. Returns a score, probabilities and a confidence value.</a:t>
            </a:r>
            <a:endParaRPr lang="en-US" sz="1600" dirty="0"/>
          </a:p>
        </p:txBody>
      </p:sp>
      <p:sp>
        <p:nvSpPr>
          <p:cNvPr id="18" name="Text 16"/>
          <p:cNvSpPr/>
          <p:nvPr/>
        </p:nvSpPr>
        <p:spPr>
          <a:xfrm>
            <a:off x="8247380" y="4243071"/>
            <a:ext cx="29523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272"/>
                </a:solidFill>
                <a:latin typeface="DM Sans" pitchFamily="34" charset="0"/>
                <a:ea typeface="DM Sans" pitchFamily="34" charset="-122"/>
                <a:cs typeface="DM Sans" pitchFamily="34" charset="-120"/>
              </a:rPr>
              <a:t>Used in scenarios 5, 6</a:t>
            </a:r>
            <a:endParaRPr lang="en-US" sz="1200" dirty="0"/>
          </a:p>
        </p:txBody>
      </p:sp>
      <p:sp>
        <p:nvSpPr>
          <p:cNvPr id="19" name="Text 17"/>
          <p:cNvSpPr/>
          <p:nvPr/>
        </p:nvSpPr>
        <p:spPr>
          <a:xfrm>
            <a:off x="812800" y="6268721"/>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Sources: TypeSafe docs, dsebastien.net. The scenario mapping is this deck’s suggestion.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5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96FF"/>
                </a:solidFill>
                <a:latin typeface="JetBrains Mono" pitchFamily="49" charset="0"/>
                <a:ea typeface="JetBrains Mono" pitchFamily="49" charset="-122"/>
                <a:cs typeface="JetBrains Mono" pitchFamily="49" charset="-120"/>
              </a:rPr>
              <a:t>SPEED</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Jev and Laya</a:t>
            </a:r>
            <a:endParaRPr lang="en-US" sz="3600" dirty="0"/>
          </a:p>
        </p:txBody>
      </p:sp>
      <p:sp>
        <p:nvSpPr>
          <p:cNvPr id="4" name="Text 2"/>
          <p:cNvSpPr/>
          <p:nvPr/>
        </p:nvSpPr>
        <p:spPr>
          <a:xfrm>
            <a:off x="812800" y="1905000"/>
            <a:ext cx="4970780" cy="878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DM Sans" pitchFamily="34" charset="0"/>
                <a:ea typeface="DM Sans" pitchFamily="34" charset="-122"/>
                <a:cs typeface="DM Sans" pitchFamily="34" charset="-120"/>
              </a:rPr>
              <a:t>Laya is an open-weights System One model from Convai Innovations, built by Nandakishor Mukkunnoth.</a:t>
            </a:r>
            <a:endParaRPr lang="en-US" sz="1600" dirty="0"/>
          </a:p>
        </p:txBody>
      </p:sp>
      <p:sp>
        <p:nvSpPr>
          <p:cNvPr id="5" name="Text 3"/>
          <p:cNvSpPr/>
          <p:nvPr/>
        </p:nvSpPr>
        <p:spPr>
          <a:xfrm>
            <a:off x="812800" y="2936239"/>
            <a:ext cx="497078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8CBD8"/>
                </a:solidFill>
                <a:latin typeface="DM Sans" pitchFamily="34" charset="0"/>
                <a:ea typeface="DM Sans" pitchFamily="34" charset="-122"/>
                <a:cs typeface="DM Sans" pitchFamily="34" charset="-120"/>
              </a:rPr>
              <a:t>Launched around 22 September 2026, a week after Jev. Apache 2.0 licence, 421M parameters, runs on your own hardware.</a:t>
            </a:r>
            <a:endParaRPr lang="en-US" sz="1600" dirty="0"/>
          </a:p>
        </p:txBody>
      </p:sp>
      <p:sp>
        <p:nvSpPr>
          <p:cNvPr id="6" name="Shape 4"/>
          <p:cNvSpPr/>
          <p:nvPr/>
        </p:nvSpPr>
        <p:spPr>
          <a:xfrm>
            <a:off x="825500" y="3967482"/>
            <a:ext cx="0" cy="883920"/>
          </a:xfrm>
          <a:prstGeom prst="line">
            <a:avLst/>
          </a:prstGeom>
          <a:noFill/>
          <a:ln w="25400">
            <a:solidFill>
              <a:srgbClr val="F2A83B"/>
            </a:solidFill>
            <a:prstDash val="solid"/>
          </a:ln>
        </p:spPr>
      </p:sp>
      <p:sp>
        <p:nvSpPr>
          <p:cNvPr id="7" name="Text 5"/>
          <p:cNvSpPr/>
          <p:nvPr/>
        </p:nvSpPr>
        <p:spPr>
          <a:xfrm>
            <a:off x="1016000" y="3992882"/>
            <a:ext cx="476148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1EA"/>
                </a:solidFill>
                <a:latin typeface="DM Sans" pitchFamily="34" charset="0"/>
                <a:ea typeface="DM Sans" pitchFamily="34" charset="-122"/>
                <a:cs typeface="DM Sans" pitchFamily="34" charset="-120"/>
              </a:rPr>
              <a:t>32.8 ms per question against 236–276 ms for Jev: about 7.8× faster.</a:t>
            </a:r>
            <a:endParaRPr lang="en-US" sz="1600" dirty="0"/>
          </a:p>
        </p:txBody>
      </p:sp>
      <p:sp>
        <p:nvSpPr>
          <p:cNvPr id="8" name="Text 6"/>
          <p:cNvSpPr/>
          <p:nvPr/>
        </p:nvSpPr>
        <p:spPr>
          <a:xfrm>
            <a:off x="1016000" y="4612639"/>
            <a:ext cx="47614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EB2"/>
                </a:solidFill>
                <a:latin typeface="DM Sans" pitchFamily="34" charset="0"/>
                <a:ea typeface="DM Sans" pitchFamily="34" charset="-122"/>
                <a:cs typeface="DM Sans" pitchFamily="34" charset="-120"/>
              </a:rPr>
              <a:t>Ten questions: about 72 ms against about 1,500 ms.</a:t>
            </a:r>
            <a:endParaRPr lang="en-US" sz="1200" dirty="0"/>
          </a:p>
        </p:txBody>
      </p:sp>
      <p:pic>
        <p:nvPicPr>
          <p:cNvPr id="9" name="Image 0" descr="web embed">    </p:cNvPr>
          <p:cNvPicPr>
            <a:picLocks noChangeAspect="1"/>
          </p:cNvPicPr>
          <p:nvPr/>
        </p:nvPicPr>
        <p:blipFill>
          <a:blip r:embed="rId1"/>
          <a:srcRect l="0" r="0" t="0" b="0"/>
          <a:stretch/>
        </p:blipFill>
        <p:spPr>
          <a:xfrm>
            <a:off x="5892800" y="1905000"/>
            <a:ext cx="5486400" cy="3429000"/>
          </a:xfrm>
          <a:prstGeom prst="rect">
            <a:avLst/>
          </a:prstGeom>
        </p:spPr>
      </p:pic>
      <p:sp>
        <p:nvSpPr>
          <p:cNvPr id="10" name="Text 7"/>
          <p:cNvSpPr/>
          <p:nvPr/>
        </p:nvSpPr>
        <p:spPr>
          <a:xfrm>
            <a:off x="812800" y="6055361"/>
            <a:ext cx="1088339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A9EB2"/>
                </a:solidFill>
                <a:latin typeface="DM Sans" pitchFamily="34" charset="0"/>
                <a:ea typeface="DM Sans" pitchFamily="34" charset="-122"/>
                <a:cs typeface="DM Sans" pitchFamily="34" charset="-120"/>
              </a:rPr>
              <a:t>Not like-for-like: Laya was measured locally on a Tesla T4 GPU, and the Jev figures are third-party and include the network. Sources: eesel.ai, Laya website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SYSTEM 1 AND SYSTEM 2</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Two ways of thinking</a:t>
            </a:r>
            <a:endParaRPr lang="en-US" sz="3600" dirty="0"/>
          </a:p>
        </p:txBody>
      </p:sp>
      <p:pic>
        <p:nvPicPr>
          <p:cNvPr id="4" name="Image 0" descr="Hebrew edition of Thinking, Fast and Slow by Daniel Kahneman">    </p:cNvPr>
          <p:cNvPicPr>
            <a:picLocks noChangeAspect="1"/>
          </p:cNvPicPr>
          <p:nvPr/>
        </p:nvPicPr>
        <p:blipFill>
          <a:blip r:embed="rId1"/>
          <a:srcRect l="0" r="0" t="406" b="406"/>
          <a:stretch/>
        </p:blipFill>
        <p:spPr>
          <a:xfrm>
            <a:off x="812800" y="1905000"/>
            <a:ext cx="2514600" cy="3556000"/>
          </a:xfrm>
          <a:prstGeom prst="roundRect">
            <a:avLst>
              <a:gd name="adj" fmla="val 2020"/>
            </a:avLst>
          </a:prstGeom>
          <a:effectLst>
            <a:outerShdw sx="100000" sy="100000" kx="0" ky="0" algn="bl" rotWithShape="0" blurRad="203200" dist="76200" dir="5400000">
              <a:srgbClr val="C9C3B4">
                <a:alpha val="100000"/>
              </a:srgbClr>
            </a:outerShdw>
          </a:effectLst>
        </p:spPr>
      </p:pic>
      <p:sp>
        <p:nvSpPr>
          <p:cNvPr id="5" name="Shape 2"/>
          <p:cNvSpPr/>
          <p:nvPr/>
        </p:nvSpPr>
        <p:spPr>
          <a:xfrm>
            <a:off x="3733800" y="1905000"/>
            <a:ext cx="7645400" cy="1295400"/>
          </a:xfrm>
          <a:prstGeom prst="roundRect">
            <a:avLst>
              <a:gd name="adj" fmla="val 11765"/>
            </a:avLst>
          </a:prstGeom>
          <a:solidFill>
            <a:srgbClr val="E4DCFF"/>
          </a:solidFill>
          <a:ln/>
        </p:spPr>
      </p:sp>
      <p:sp>
        <p:nvSpPr>
          <p:cNvPr id="6" name="Text 3"/>
          <p:cNvSpPr/>
          <p:nvPr/>
        </p:nvSpPr>
        <p:spPr>
          <a:xfrm>
            <a:off x="4013200" y="2082800"/>
            <a:ext cx="7299198" cy="337106"/>
          </a:xfrm>
          <a:prstGeom prst="rect">
            <a:avLst/>
          </a:prstGeom>
          <a:noFill/>
          <a:ln/>
        </p:spPr>
        <p:txBody>
          <a:bodyPr wrap="square" lIns="0" tIns="0" rIns="0" bIns="0" rtlCol="0" anchor="t">
            <a:normAutofit/>
          </a:bodyPr>
          <a:lstStyle/>
          <a:p>
            <a:pPr algn="l" indent="0" marL="0">
              <a:lnSpc>
                <a:spcPts val="2475"/>
              </a:lnSpc>
              <a:buNone/>
            </a:pPr>
            <a:r>
              <a:rPr lang="en-US" sz="2152" b="1" dirty="0">
                <a:solidFill>
                  <a:srgbClr val="14151C"/>
                </a:solidFill>
                <a:latin typeface="Space Grotesk" pitchFamily="34" charset="0"/>
                <a:ea typeface="Space Grotesk" pitchFamily="34" charset="-122"/>
                <a:cs typeface="Space Grotesk" pitchFamily="34" charset="-120"/>
              </a:rPr>
              <a:t>System 1</a:t>
            </a:r>
            <a:endParaRPr lang="en-US" sz="2152" dirty="0"/>
          </a:p>
        </p:txBody>
      </p:sp>
      <p:sp>
        <p:nvSpPr>
          <p:cNvPr id="7" name="Text 4"/>
          <p:cNvSpPr/>
          <p:nvPr/>
        </p:nvSpPr>
        <p:spPr>
          <a:xfrm>
            <a:off x="4013200" y="2470705"/>
            <a:ext cx="7299198" cy="577294"/>
          </a:xfrm>
          <a:prstGeom prst="rect">
            <a:avLst/>
          </a:prstGeom>
          <a:noFill/>
          <a:ln/>
        </p:spPr>
        <p:txBody>
          <a:bodyPr wrap="square" lIns="0" tIns="0" rIns="0" bIns="0" rtlCol="0" anchor="t">
            <a:normAutofit/>
          </a:bodyPr>
          <a:lstStyle/>
          <a:p>
            <a:pPr algn="l" indent="0" marL="0">
              <a:lnSpc>
                <a:spcPts val="2184"/>
              </a:lnSpc>
              <a:buNone/>
            </a:pPr>
            <a:r>
              <a:rPr lang="en-US" sz="1560" dirty="0">
                <a:solidFill>
                  <a:srgbClr val="14151C"/>
                </a:solidFill>
                <a:latin typeface="DM Sans" pitchFamily="34" charset="0"/>
                <a:ea typeface="DM Sans" pitchFamily="34" charset="-122"/>
                <a:cs typeface="DM Sans" pitchFamily="34" charset="-120"/>
              </a:rPr>
              <a:t>Fast, automatic and effortless. It answers before you decide to think. 2 + 2 = ? Four, instantly.</a:t>
            </a:r>
            <a:endParaRPr lang="en-US" sz="1560" dirty="0"/>
          </a:p>
        </p:txBody>
      </p:sp>
      <p:sp>
        <p:nvSpPr>
          <p:cNvPr id="8" name="Shape 5"/>
          <p:cNvSpPr/>
          <p:nvPr/>
        </p:nvSpPr>
        <p:spPr>
          <a:xfrm>
            <a:off x="3733800" y="3327400"/>
            <a:ext cx="7645400" cy="1295400"/>
          </a:xfrm>
          <a:prstGeom prst="roundRect">
            <a:avLst>
              <a:gd name="adj" fmla="val 11765"/>
            </a:avLst>
          </a:prstGeom>
          <a:solidFill>
            <a:srgbClr val="14151C"/>
          </a:solidFill>
          <a:ln/>
        </p:spPr>
      </p:sp>
      <p:sp>
        <p:nvSpPr>
          <p:cNvPr id="9" name="Text 6"/>
          <p:cNvSpPr/>
          <p:nvPr/>
        </p:nvSpPr>
        <p:spPr>
          <a:xfrm>
            <a:off x="4013200" y="3505200"/>
            <a:ext cx="7299198" cy="337106"/>
          </a:xfrm>
          <a:prstGeom prst="rect">
            <a:avLst/>
          </a:prstGeom>
          <a:noFill/>
          <a:ln/>
        </p:spPr>
        <p:txBody>
          <a:bodyPr wrap="square" lIns="0" tIns="0" rIns="0" bIns="0" rtlCol="0" anchor="t">
            <a:normAutofit/>
          </a:bodyPr>
          <a:lstStyle/>
          <a:p>
            <a:pPr algn="l" indent="0" marL="0">
              <a:lnSpc>
                <a:spcPts val="2475"/>
              </a:lnSpc>
              <a:buNone/>
            </a:pPr>
            <a:r>
              <a:rPr lang="en-US" sz="2152" b="1" dirty="0">
                <a:solidFill>
                  <a:srgbClr val="F4F1EA"/>
                </a:solidFill>
                <a:latin typeface="Space Grotesk" pitchFamily="34" charset="0"/>
                <a:ea typeface="Space Grotesk" pitchFamily="34" charset="-122"/>
                <a:cs typeface="Space Grotesk" pitchFamily="34" charset="-120"/>
              </a:rPr>
              <a:t>System 2</a:t>
            </a:r>
            <a:endParaRPr lang="en-US" sz="2152" dirty="0"/>
          </a:p>
        </p:txBody>
      </p:sp>
      <p:sp>
        <p:nvSpPr>
          <p:cNvPr id="10" name="Text 7"/>
          <p:cNvSpPr/>
          <p:nvPr/>
        </p:nvSpPr>
        <p:spPr>
          <a:xfrm>
            <a:off x="4013200" y="3893105"/>
            <a:ext cx="7299198" cy="577294"/>
          </a:xfrm>
          <a:prstGeom prst="rect">
            <a:avLst/>
          </a:prstGeom>
          <a:noFill/>
          <a:ln/>
        </p:spPr>
        <p:txBody>
          <a:bodyPr wrap="square" lIns="0" tIns="0" rIns="0" bIns="0" rtlCol="0" anchor="t">
            <a:normAutofit/>
          </a:bodyPr>
          <a:lstStyle/>
          <a:p>
            <a:pPr algn="l" indent="0" marL="0">
              <a:lnSpc>
                <a:spcPts val="2184"/>
              </a:lnSpc>
              <a:buNone/>
            </a:pPr>
            <a:r>
              <a:rPr lang="en-US" sz="1560" dirty="0">
                <a:solidFill>
                  <a:srgbClr val="C8CBD8"/>
                </a:solidFill>
                <a:latin typeface="DM Sans" pitchFamily="34" charset="0"/>
                <a:ea typeface="DM Sans" pitchFamily="34" charset="-122"/>
                <a:cs typeface="DM Sans" pitchFamily="34" charset="-120"/>
              </a:rPr>
              <a:t>Slow, deliberate and effortful. It does the arithmetic, the checking and the planning. 17 × 24 = ? You have to work it out.</a:t>
            </a:r>
            <a:endParaRPr lang="en-US" sz="1560" dirty="0"/>
          </a:p>
        </p:txBody>
      </p:sp>
      <p:sp>
        <p:nvSpPr>
          <p:cNvPr id="11" name="Text 8"/>
          <p:cNvSpPr/>
          <p:nvPr/>
        </p:nvSpPr>
        <p:spPr>
          <a:xfrm>
            <a:off x="3733800" y="4775200"/>
            <a:ext cx="787476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51C"/>
                </a:solidFill>
                <a:latin typeface="DM Sans" pitchFamily="34" charset="0"/>
                <a:ea typeface="DM Sans" pitchFamily="34" charset="-122"/>
                <a:cs typeface="DM Sans" pitchFamily="34" charset="-120"/>
              </a:rPr>
              <a:t>Popularised by Daniel Kahneman in Thinking, Fast and Slow (2011). He credits Keith Stanovich and Richard West for the terms.</a:t>
            </a:r>
            <a:endParaRPr lang="en-US" sz="1600" dirty="0"/>
          </a:p>
        </p:txBody>
      </p:sp>
      <p:sp>
        <p:nvSpPr>
          <p:cNvPr id="12" name="Text 9"/>
          <p:cNvSpPr/>
          <p:nvPr/>
        </p:nvSpPr>
        <p:spPr>
          <a:xfrm>
            <a:off x="812800" y="6268721"/>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Daniel Kahneman, Thinking, Fast and Slow (2011); Hebrew edition shown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SYSTEM ONE AND SYSTEM TWO MODELS</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Two kinds of model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4839"/>
          <a:ext cx="10556240" cy="2301240"/>
        </p:xfrm>
        <a:graphic>
          <a:graphicData uri="http://schemas.openxmlformats.org/drawingml/2006/table">
            <a:tbl>
              <a:tblPr/>
              <a:tblGrid>
                <a:gridCol w="2111248"/>
                <a:gridCol w="4222496"/>
                <a:gridCol w="4222496"/>
              </a:tblGrid>
              <a:tr h="383540">
                <a:tc>
                  <a:txBody>
                    <a:bodyPr/>
                    <a:lstStyle/>
                    <a:p>
                      <a:pPr indent="0" marL="0">
                        <a:lnSpc>
                          <a:spcPts val="1960"/>
                        </a:lnSpc>
                        <a:buNone/>
                      </a:pP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960"/>
                        </a:lnSpc>
                        <a:buNone/>
                      </a:pPr>
                      <a:r>
                        <a:rPr lang="en-US" sz="1400" b="1" dirty="0">
                          <a:solidFill>
                            <a:srgbClr val="14151C"/>
                          </a:solidFill>
                          <a:latin typeface="DM Sans" pitchFamily="34" charset="0"/>
                          <a:ea typeface="DM Sans" pitchFamily="34" charset="-122"/>
                          <a:cs typeface="DM Sans" pitchFamily="34" charset="-120"/>
                        </a:rPr>
                        <a:t>System Two: LLMs</a:t>
                      </a:r>
                      <a:endParaRPr lang="en-US" sz="1400" dirty="0">
                        <a:latin typeface="DM Sans" charset="0"/>
                        <a:ea typeface="DM Sans" charset="0"/>
                        <a:cs typeface="DM Sans" charset="0"/>
                      </a:endParaRPr>
                    </a:p>
                  </a:txBody>
                  <a:tcPr marL="62230" marR="62230" marT="62230" marB="6223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960"/>
                        </a:lnSpc>
                        <a:buNone/>
                      </a:pPr>
                      <a:r>
                        <a:rPr lang="en-US" sz="1400" b="1" dirty="0">
                          <a:solidFill>
                            <a:srgbClr val="14151C"/>
                          </a:solidFill>
                          <a:latin typeface="DM Sans" pitchFamily="34" charset="0"/>
                          <a:ea typeface="DM Sans" pitchFamily="34" charset="-122"/>
                          <a:cs typeface="DM Sans" pitchFamily="34" charset="-120"/>
                        </a:rPr>
                        <a:t>System One: Jev</a:t>
                      </a:r>
                      <a:endParaRPr lang="en-US" sz="1400" dirty="0">
                        <a:latin typeface="DM Sans" charset="0"/>
                        <a:ea typeface="DM Sans" charset="0"/>
                        <a:cs typeface="DM Sans" charset="0"/>
                      </a:endParaRPr>
                    </a:p>
                  </a:txBody>
                  <a:tcPr marL="62230" marR="62230" marT="62230" marB="6223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383540">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Answers by</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Generating text token by token</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Scoring options in a single pass</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Output</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Free text</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A typed answer with probabilities</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Speed and cost</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Slower, billed for input and output</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70–500 ms; output is free</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Best at</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Reasoning, writing, open-ended work</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Routing, labeling, gating, scoring</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Weak at</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Cost and latency in tight loops</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51C"/>
                          </a:solidFill>
                          <a:latin typeface="DM Sans" pitchFamily="34" charset="0"/>
                          <a:ea typeface="DM Sans" pitchFamily="34" charset="-122"/>
                          <a:cs typeface="DM Sans" pitchFamily="34" charset="-120"/>
                        </a:rPr>
                        <a:t>Math, counting, explaining itself</a:t>
                      </a:r>
                      <a:endParaRPr lang="en-US" sz="1400" dirty="0">
                        <a:latin typeface="DM Sans" charset="0"/>
                        <a:ea typeface="DM Sans" charset="0"/>
                        <a:cs typeface="DM Sans" charset="0"/>
                      </a:endParaRPr>
                    </a:p>
                  </a:txBody>
                  <a:tcPr marL="62230" marR="62230" marT="62230" marB="6223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68721"/>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“System One” is TypeSafe’s framing, not an established category. Sources: MindStudio, dsebastien.net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434E0"/>
        </a:solidFill>
      </p:bgPr>
    </p:bg>
    <p:spTree>
      <p:nvGrpSpPr>
        <p:cNvPr id="1" name=""/>
        <p:cNvGrpSpPr/>
        <p:nvPr/>
      </p:nvGrpSpPr>
      <p:grpSpPr>
        <a:xfrm>
          <a:off x="0" y="0"/>
          <a:ext cx="0" cy="0"/>
          <a:chOff x="0" y="0"/>
          <a:chExt cx="0" cy="0"/>
        </a:xfrm>
      </p:grpSpPr>
      <p:sp>
        <p:nvSpPr>
          <p:cNvPr id="2" name="Text 0"/>
          <p:cNvSpPr/>
          <p:nvPr/>
        </p:nvSpPr>
        <p:spPr>
          <a:xfrm>
            <a:off x="812800" y="2176779"/>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4DCFF"/>
                </a:solidFill>
                <a:latin typeface="JetBrains Mono" pitchFamily="49" charset="0"/>
                <a:ea typeface="JetBrains Mono" pitchFamily="49" charset="-122"/>
                <a:cs typeface="JetBrains Mono" pitchFamily="49" charset="-120"/>
              </a:rPr>
              <a:t>TOP 9 PLACES TO USE JEV</a:t>
            </a:r>
            <a:endParaRPr lang="en-US" sz="1200" dirty="0"/>
          </a:p>
        </p:txBody>
      </p:sp>
      <p:sp>
        <p:nvSpPr>
          <p:cNvPr id="3" name="Text 1"/>
          <p:cNvSpPr/>
          <p:nvPr>
            <p:ph type="title"/>
          </p:nvPr>
        </p:nvSpPr>
        <p:spPr>
          <a:xfrm>
            <a:off x="812800" y="2593342"/>
            <a:ext cx="45783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1EA"/>
                </a:solidFill>
                <a:latin typeface="Space Grotesk" pitchFamily="34" charset="0"/>
                <a:ea typeface="Space Grotesk" pitchFamily="34" charset="-122"/>
                <a:cs typeface="Space Grotesk" pitchFamily="34" charset="-120"/>
              </a:rPr>
              <a:t>Nine scenarios</a:t>
            </a:r>
            <a:endParaRPr lang="en-US" sz="6000" dirty="0"/>
          </a:p>
        </p:txBody>
      </p:sp>
      <p:sp>
        <p:nvSpPr>
          <p:cNvPr id="4" name="Text 2"/>
          <p:cNvSpPr/>
          <p:nvPr/>
        </p:nvSpPr>
        <p:spPr>
          <a:xfrm>
            <a:off x="812800" y="4396742"/>
            <a:ext cx="45783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1EA"/>
                </a:solidFill>
                <a:latin typeface="DM Sans" pitchFamily="34" charset="0"/>
                <a:ea typeface="DM Sans" pitchFamily="34" charset="-122"/>
                <a:cs typeface="DM Sans" pitchFamily="34" charset="-120"/>
              </a:rPr>
              <a:t>One slide for each, shown before the code.</a:t>
            </a:r>
            <a:endParaRPr lang="en-US" sz="1600" dirty="0"/>
          </a:p>
        </p:txBody>
      </p:sp>
      <p:sp>
        <p:nvSpPr>
          <p:cNvPr id="5" name="Shape 3"/>
          <p:cNvSpPr/>
          <p:nvPr/>
        </p:nvSpPr>
        <p:spPr>
          <a:xfrm>
            <a:off x="5670550" y="1840229"/>
            <a:ext cx="1824514" cy="1064260"/>
          </a:xfrm>
          <a:prstGeom prst="roundRect">
            <a:avLst>
              <a:gd name="adj" fmla="val 8950"/>
            </a:avLst>
          </a:prstGeom>
          <a:solidFill>
            <a:srgbClr val="6A4CF0"/>
          </a:solidFill>
          <a:ln w="12700">
            <a:solidFill>
              <a:srgbClr val="8D76FF"/>
            </a:solidFill>
            <a:prstDash val="solid"/>
          </a:ln>
        </p:spPr>
      </p:sp>
      <p:sp>
        <p:nvSpPr>
          <p:cNvPr id="6" name="Text 4"/>
          <p:cNvSpPr/>
          <p:nvPr/>
        </p:nvSpPr>
        <p:spPr>
          <a:xfrm>
            <a:off x="5826760" y="1996442"/>
            <a:ext cx="15628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01</a:t>
            </a:r>
            <a:endParaRPr lang="en-US" sz="1200" dirty="0"/>
          </a:p>
        </p:txBody>
      </p:sp>
      <p:sp>
        <p:nvSpPr>
          <p:cNvPr id="7" name="Text 5"/>
          <p:cNvSpPr/>
          <p:nvPr/>
        </p:nvSpPr>
        <p:spPr>
          <a:xfrm>
            <a:off x="5826760" y="2260600"/>
            <a:ext cx="15628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Model routing</a:t>
            </a:r>
            <a:endParaRPr lang="en-US" sz="1600" dirty="0"/>
          </a:p>
        </p:txBody>
      </p:sp>
      <p:sp>
        <p:nvSpPr>
          <p:cNvPr id="8" name="Shape 6"/>
          <p:cNvSpPr/>
          <p:nvPr/>
        </p:nvSpPr>
        <p:spPr>
          <a:xfrm>
            <a:off x="7609364" y="1840229"/>
            <a:ext cx="1824593" cy="1064260"/>
          </a:xfrm>
          <a:prstGeom prst="roundRect">
            <a:avLst>
              <a:gd name="adj" fmla="val 8950"/>
            </a:avLst>
          </a:prstGeom>
          <a:solidFill>
            <a:srgbClr val="6A4CF0"/>
          </a:solidFill>
          <a:ln w="12700">
            <a:solidFill>
              <a:srgbClr val="8D76FF"/>
            </a:solidFill>
            <a:prstDash val="solid"/>
          </a:ln>
        </p:spPr>
      </p:sp>
      <p:sp>
        <p:nvSpPr>
          <p:cNvPr id="9" name="Text 7"/>
          <p:cNvSpPr/>
          <p:nvPr/>
        </p:nvSpPr>
        <p:spPr>
          <a:xfrm>
            <a:off x="7765574" y="1996442"/>
            <a:ext cx="15629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7765574" y="2260600"/>
            <a:ext cx="15629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Guardrails</a:t>
            </a:r>
            <a:endParaRPr lang="en-US" sz="1600" dirty="0"/>
          </a:p>
        </p:txBody>
      </p:sp>
      <p:sp>
        <p:nvSpPr>
          <p:cNvPr id="11" name="Shape 9"/>
          <p:cNvSpPr/>
          <p:nvPr/>
        </p:nvSpPr>
        <p:spPr>
          <a:xfrm>
            <a:off x="9548257" y="1840229"/>
            <a:ext cx="1824514" cy="1064260"/>
          </a:xfrm>
          <a:prstGeom prst="roundRect">
            <a:avLst>
              <a:gd name="adj" fmla="val 8950"/>
            </a:avLst>
          </a:prstGeom>
          <a:solidFill>
            <a:srgbClr val="6A4CF0"/>
          </a:solidFill>
          <a:ln w="12700">
            <a:solidFill>
              <a:srgbClr val="8D76FF"/>
            </a:solidFill>
            <a:prstDash val="solid"/>
          </a:ln>
        </p:spPr>
      </p:sp>
      <p:sp>
        <p:nvSpPr>
          <p:cNvPr id="12" name="Text 10"/>
          <p:cNvSpPr/>
          <p:nvPr/>
        </p:nvSpPr>
        <p:spPr>
          <a:xfrm>
            <a:off x="9704467" y="1996442"/>
            <a:ext cx="15628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03</a:t>
            </a:r>
            <a:endParaRPr lang="en-US" sz="1200" dirty="0"/>
          </a:p>
        </p:txBody>
      </p:sp>
      <p:sp>
        <p:nvSpPr>
          <p:cNvPr id="13" name="Text 11"/>
          <p:cNvSpPr/>
          <p:nvPr/>
        </p:nvSpPr>
        <p:spPr>
          <a:xfrm>
            <a:off x="9704467" y="2260600"/>
            <a:ext cx="1562894"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Tool-call gating</a:t>
            </a:r>
            <a:endParaRPr lang="en-US" sz="1600" dirty="0"/>
          </a:p>
        </p:txBody>
      </p:sp>
      <p:sp>
        <p:nvSpPr>
          <p:cNvPr id="14" name="Shape 12"/>
          <p:cNvSpPr/>
          <p:nvPr/>
        </p:nvSpPr>
        <p:spPr>
          <a:xfrm>
            <a:off x="5670550" y="3018792"/>
            <a:ext cx="1824514" cy="820420"/>
          </a:xfrm>
          <a:prstGeom prst="roundRect">
            <a:avLst>
              <a:gd name="adj" fmla="val 11610"/>
            </a:avLst>
          </a:prstGeom>
          <a:solidFill>
            <a:srgbClr val="6A4CF0"/>
          </a:solidFill>
          <a:ln w="12700">
            <a:solidFill>
              <a:srgbClr val="8D76FF"/>
            </a:solidFill>
            <a:prstDash val="solid"/>
          </a:ln>
        </p:spPr>
      </p:sp>
      <p:sp>
        <p:nvSpPr>
          <p:cNvPr id="15" name="Text 13"/>
          <p:cNvSpPr/>
          <p:nvPr/>
        </p:nvSpPr>
        <p:spPr>
          <a:xfrm>
            <a:off x="5826760" y="3175000"/>
            <a:ext cx="15628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04</a:t>
            </a:r>
            <a:endParaRPr lang="en-US" sz="1200" dirty="0"/>
          </a:p>
        </p:txBody>
      </p:sp>
      <p:sp>
        <p:nvSpPr>
          <p:cNvPr id="16" name="Text 14"/>
          <p:cNvSpPr/>
          <p:nvPr/>
        </p:nvSpPr>
        <p:spPr>
          <a:xfrm>
            <a:off x="5826760" y="3439164"/>
            <a:ext cx="15628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Inbox triage</a:t>
            </a:r>
            <a:endParaRPr lang="en-US" sz="1600" dirty="0"/>
          </a:p>
        </p:txBody>
      </p:sp>
      <p:sp>
        <p:nvSpPr>
          <p:cNvPr id="17" name="Shape 15"/>
          <p:cNvSpPr/>
          <p:nvPr/>
        </p:nvSpPr>
        <p:spPr>
          <a:xfrm>
            <a:off x="7609364" y="3018792"/>
            <a:ext cx="1824593" cy="820420"/>
          </a:xfrm>
          <a:prstGeom prst="roundRect">
            <a:avLst>
              <a:gd name="adj" fmla="val 11610"/>
            </a:avLst>
          </a:prstGeom>
          <a:solidFill>
            <a:srgbClr val="6A4CF0"/>
          </a:solidFill>
          <a:ln w="12700">
            <a:solidFill>
              <a:srgbClr val="8D76FF"/>
            </a:solidFill>
            <a:prstDash val="solid"/>
          </a:ln>
        </p:spPr>
      </p:sp>
      <p:sp>
        <p:nvSpPr>
          <p:cNvPr id="18" name="Text 16"/>
          <p:cNvSpPr/>
          <p:nvPr/>
        </p:nvSpPr>
        <p:spPr>
          <a:xfrm>
            <a:off x="7765574" y="3175000"/>
            <a:ext cx="15629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05</a:t>
            </a:r>
            <a:endParaRPr lang="en-US" sz="1200" dirty="0"/>
          </a:p>
        </p:txBody>
      </p:sp>
      <p:sp>
        <p:nvSpPr>
          <p:cNvPr id="19" name="Text 17"/>
          <p:cNvSpPr/>
          <p:nvPr/>
        </p:nvSpPr>
        <p:spPr>
          <a:xfrm>
            <a:off x="7765574" y="3439164"/>
            <a:ext cx="15629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Reranking</a:t>
            </a:r>
            <a:endParaRPr lang="en-US" sz="1600" dirty="0"/>
          </a:p>
        </p:txBody>
      </p:sp>
      <p:sp>
        <p:nvSpPr>
          <p:cNvPr id="20" name="Shape 18"/>
          <p:cNvSpPr/>
          <p:nvPr/>
        </p:nvSpPr>
        <p:spPr>
          <a:xfrm>
            <a:off x="9548257" y="3018792"/>
            <a:ext cx="1824514" cy="820420"/>
          </a:xfrm>
          <a:prstGeom prst="roundRect">
            <a:avLst>
              <a:gd name="adj" fmla="val 11610"/>
            </a:avLst>
          </a:prstGeom>
          <a:solidFill>
            <a:srgbClr val="6A4CF0"/>
          </a:solidFill>
          <a:ln w="12700">
            <a:solidFill>
              <a:srgbClr val="8D76FF"/>
            </a:solidFill>
            <a:prstDash val="solid"/>
          </a:ln>
        </p:spPr>
      </p:sp>
      <p:sp>
        <p:nvSpPr>
          <p:cNvPr id="21" name="Text 19"/>
          <p:cNvSpPr/>
          <p:nvPr/>
        </p:nvSpPr>
        <p:spPr>
          <a:xfrm>
            <a:off x="9704467" y="3175000"/>
            <a:ext cx="15628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06</a:t>
            </a:r>
            <a:endParaRPr lang="en-US" sz="1200" dirty="0"/>
          </a:p>
        </p:txBody>
      </p:sp>
      <p:sp>
        <p:nvSpPr>
          <p:cNvPr id="22" name="Text 20"/>
          <p:cNvSpPr/>
          <p:nvPr/>
        </p:nvSpPr>
        <p:spPr>
          <a:xfrm>
            <a:off x="9704467" y="3439164"/>
            <a:ext cx="15628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LLM evals</a:t>
            </a:r>
            <a:endParaRPr lang="en-US" sz="1600" dirty="0"/>
          </a:p>
        </p:txBody>
      </p:sp>
      <p:sp>
        <p:nvSpPr>
          <p:cNvPr id="23" name="Shape 21"/>
          <p:cNvSpPr/>
          <p:nvPr/>
        </p:nvSpPr>
        <p:spPr>
          <a:xfrm>
            <a:off x="5670550" y="3953514"/>
            <a:ext cx="1824514" cy="1064260"/>
          </a:xfrm>
          <a:prstGeom prst="roundRect">
            <a:avLst>
              <a:gd name="adj" fmla="val 8950"/>
            </a:avLst>
          </a:prstGeom>
          <a:solidFill>
            <a:srgbClr val="6A4CF0"/>
          </a:solidFill>
          <a:ln w="12700">
            <a:solidFill>
              <a:srgbClr val="8D76FF"/>
            </a:solidFill>
            <a:prstDash val="solid"/>
          </a:ln>
        </p:spPr>
      </p:sp>
      <p:sp>
        <p:nvSpPr>
          <p:cNvPr id="24" name="Text 22"/>
          <p:cNvSpPr/>
          <p:nvPr/>
        </p:nvSpPr>
        <p:spPr>
          <a:xfrm>
            <a:off x="5826760" y="4109721"/>
            <a:ext cx="15628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07</a:t>
            </a:r>
            <a:endParaRPr lang="en-US" sz="1200" dirty="0"/>
          </a:p>
        </p:txBody>
      </p:sp>
      <p:sp>
        <p:nvSpPr>
          <p:cNvPr id="25" name="Text 23"/>
          <p:cNvSpPr/>
          <p:nvPr/>
        </p:nvSpPr>
        <p:spPr>
          <a:xfrm>
            <a:off x="5826760" y="4373879"/>
            <a:ext cx="15628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Bulk labeling</a:t>
            </a:r>
            <a:endParaRPr lang="en-US" sz="1600" dirty="0"/>
          </a:p>
        </p:txBody>
      </p:sp>
      <p:sp>
        <p:nvSpPr>
          <p:cNvPr id="26" name="Shape 24"/>
          <p:cNvSpPr/>
          <p:nvPr/>
        </p:nvSpPr>
        <p:spPr>
          <a:xfrm>
            <a:off x="7609364" y="3953514"/>
            <a:ext cx="1824593" cy="1064260"/>
          </a:xfrm>
          <a:prstGeom prst="roundRect">
            <a:avLst>
              <a:gd name="adj" fmla="val 8950"/>
            </a:avLst>
          </a:prstGeom>
          <a:solidFill>
            <a:srgbClr val="6A4CF0"/>
          </a:solidFill>
          <a:ln w="12700">
            <a:solidFill>
              <a:srgbClr val="8D76FF"/>
            </a:solidFill>
            <a:prstDash val="solid"/>
          </a:ln>
        </p:spPr>
      </p:sp>
      <p:sp>
        <p:nvSpPr>
          <p:cNvPr id="27" name="Text 25"/>
          <p:cNvSpPr/>
          <p:nvPr/>
        </p:nvSpPr>
        <p:spPr>
          <a:xfrm>
            <a:off x="7765574" y="4109721"/>
            <a:ext cx="15629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08</a:t>
            </a:r>
            <a:endParaRPr lang="en-US" sz="1200" dirty="0"/>
          </a:p>
        </p:txBody>
      </p:sp>
      <p:sp>
        <p:nvSpPr>
          <p:cNvPr id="28" name="Text 26"/>
          <p:cNvSpPr/>
          <p:nvPr/>
        </p:nvSpPr>
        <p:spPr>
          <a:xfrm>
            <a:off x="7765574" y="4373879"/>
            <a:ext cx="1562973"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Real-time control</a:t>
            </a:r>
            <a:endParaRPr lang="en-US" sz="1600" dirty="0"/>
          </a:p>
        </p:txBody>
      </p:sp>
      <p:sp>
        <p:nvSpPr>
          <p:cNvPr id="29" name="Shape 27"/>
          <p:cNvSpPr/>
          <p:nvPr/>
        </p:nvSpPr>
        <p:spPr>
          <a:xfrm>
            <a:off x="9548257" y="3953514"/>
            <a:ext cx="1824514" cy="1064260"/>
          </a:xfrm>
          <a:prstGeom prst="roundRect">
            <a:avLst>
              <a:gd name="adj" fmla="val 8950"/>
            </a:avLst>
          </a:prstGeom>
          <a:solidFill>
            <a:srgbClr val="6A4CF0"/>
          </a:solidFill>
          <a:ln w="12700">
            <a:solidFill>
              <a:srgbClr val="8D76FF"/>
            </a:solidFill>
            <a:prstDash val="solid"/>
          </a:ln>
        </p:spPr>
      </p:sp>
      <p:sp>
        <p:nvSpPr>
          <p:cNvPr id="30" name="Text 28"/>
          <p:cNvSpPr/>
          <p:nvPr/>
        </p:nvSpPr>
        <p:spPr>
          <a:xfrm>
            <a:off x="9704467" y="4109721"/>
            <a:ext cx="15628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1EA"/>
                </a:solidFill>
                <a:latin typeface="JetBrains Mono" pitchFamily="49" charset="0"/>
                <a:ea typeface="JetBrains Mono" pitchFamily="49" charset="-122"/>
                <a:cs typeface="JetBrains Mono" pitchFamily="49" charset="-120"/>
              </a:rPr>
              <a:t>09</a:t>
            </a:r>
            <a:endParaRPr lang="en-US" sz="1200" dirty="0"/>
          </a:p>
        </p:txBody>
      </p:sp>
      <p:sp>
        <p:nvSpPr>
          <p:cNvPr id="31" name="Text 29"/>
          <p:cNvSpPr/>
          <p:nvPr/>
        </p:nvSpPr>
        <p:spPr>
          <a:xfrm>
            <a:off x="9704467" y="4373879"/>
            <a:ext cx="1562894"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Confidence gate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2024379"/>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SCENARIO 1 OF 9</a:t>
            </a:r>
            <a:endParaRPr lang="en-US" sz="1200" dirty="0"/>
          </a:p>
        </p:txBody>
      </p:sp>
      <p:sp>
        <p:nvSpPr>
          <p:cNvPr id="3" name="Text 1"/>
          <p:cNvSpPr/>
          <p:nvPr>
            <p:ph type="title"/>
          </p:nvPr>
        </p:nvSpPr>
        <p:spPr>
          <a:xfrm>
            <a:off x="812800" y="2390142"/>
            <a:ext cx="418592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Model routing</a:t>
            </a:r>
            <a:endParaRPr lang="en-US" sz="3600" dirty="0"/>
          </a:p>
        </p:txBody>
      </p:sp>
      <p:sp>
        <p:nvSpPr>
          <p:cNvPr id="4" name="Text 2"/>
          <p:cNvSpPr/>
          <p:nvPr/>
        </p:nvSpPr>
        <p:spPr>
          <a:xfrm>
            <a:off x="812800" y="3045464"/>
            <a:ext cx="41859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Send each prompt to the model that fits it, so easy requests go to a small, cheap LLM and only hard ones reach a large one.</a:t>
            </a:r>
            <a:endParaRPr lang="en-US" sz="1600" dirty="0"/>
          </a:p>
        </p:txBody>
      </p:sp>
      <p:sp>
        <p:nvSpPr>
          <p:cNvPr id="5" name="Shape 3"/>
          <p:cNvSpPr/>
          <p:nvPr/>
        </p:nvSpPr>
        <p:spPr>
          <a:xfrm>
            <a:off x="825500" y="4051300"/>
            <a:ext cx="0" cy="579120"/>
          </a:xfrm>
          <a:prstGeom prst="line">
            <a:avLst/>
          </a:prstGeom>
          <a:noFill/>
          <a:ln w="25400">
            <a:solidFill>
              <a:srgbClr val="5434E0"/>
            </a:solidFill>
            <a:prstDash val="solid"/>
          </a:ln>
        </p:spPr>
      </p:sp>
      <p:sp>
        <p:nvSpPr>
          <p:cNvPr id="6" name="Text 4"/>
          <p:cNvSpPr/>
          <p:nvPr/>
        </p:nvSpPr>
        <p:spPr>
          <a:xfrm>
            <a:off x="990600" y="4076700"/>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272"/>
                </a:solidFill>
                <a:latin typeface="JetBrains Mono" pitchFamily="49" charset="0"/>
                <a:ea typeface="JetBrains Mono" pitchFamily="49" charset="-122"/>
                <a:cs typeface="JetBrains Mono" pitchFamily="49" charset="-120"/>
              </a:rPr>
              <a:t>JEV QUESTION</a:t>
            </a:r>
            <a:endParaRPr lang="en-US" sz="1200" dirty="0"/>
          </a:p>
        </p:txBody>
      </p:sp>
      <p:sp>
        <p:nvSpPr>
          <p:cNvPr id="7" name="Text 5"/>
          <p:cNvSpPr/>
          <p:nvPr/>
        </p:nvSpPr>
        <p:spPr>
          <a:xfrm>
            <a:off x="990600" y="4340864"/>
            <a:ext cx="4002786"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51C"/>
                </a:solidFill>
                <a:latin typeface="DM Sans" pitchFamily="34" charset="0"/>
                <a:ea typeface="DM Sans" pitchFamily="34" charset="-122"/>
                <a:cs typeface="DM Sans" pitchFamily="34" charset="-120"/>
              </a:rPr>
              <a:t>choice: small, medium or large LLM</a:t>
            </a:r>
            <a:endParaRPr lang="en-US" sz="1600" dirty="0"/>
          </a:p>
        </p:txBody>
      </p:sp>
      <p:pic>
        <p:nvPicPr>
          <p:cNvPr id="8" name="Image 0" descr="web embed">    </p:cNvPr>
          <p:cNvPicPr>
            <a:picLocks noChangeAspect="1"/>
          </p:cNvPicPr>
          <p:nvPr/>
        </p:nvPicPr>
        <p:blipFill>
          <a:blip r:embed="rId1"/>
          <a:srcRect l="0" r="0" t="0" b="0"/>
          <a:stretch/>
        </p:blipFill>
        <p:spPr>
          <a:xfrm>
            <a:off x="5283200" y="1295400"/>
            <a:ext cx="6096000" cy="4064000"/>
          </a:xfrm>
          <a:prstGeom prst="rect">
            <a:avLst/>
          </a:prstGeom>
        </p:spPr>
      </p:pic>
      <p:sp>
        <p:nvSpPr>
          <p:cNvPr id="9" name="Text 6"/>
          <p:cNvSpPr/>
          <p:nvPr/>
        </p:nvSpPr>
        <p:spPr>
          <a:xfrm>
            <a:off x="812800" y="6268721"/>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ByteByteGo, “Top 9 places to use Jev”. Example prompts are illustrative.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2024379"/>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SCENARIO 2 OF 9</a:t>
            </a:r>
            <a:endParaRPr lang="en-US" sz="1200" dirty="0"/>
          </a:p>
        </p:txBody>
      </p:sp>
      <p:sp>
        <p:nvSpPr>
          <p:cNvPr id="3" name="Text 1"/>
          <p:cNvSpPr/>
          <p:nvPr>
            <p:ph type="title"/>
          </p:nvPr>
        </p:nvSpPr>
        <p:spPr>
          <a:xfrm>
            <a:off x="812800" y="2390142"/>
            <a:ext cx="418592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Guardrails</a:t>
            </a:r>
            <a:endParaRPr lang="en-US" sz="3600" dirty="0"/>
          </a:p>
        </p:txBody>
      </p:sp>
      <p:sp>
        <p:nvSpPr>
          <p:cNvPr id="4" name="Text 2"/>
          <p:cNvSpPr/>
          <p:nvPr/>
        </p:nvSpPr>
        <p:spPr>
          <a:xfrm>
            <a:off x="812800" y="3045464"/>
            <a:ext cx="41859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Check every input for injection, abuse or off-policy content before it reaches the LLM, and block whatever fails.</a:t>
            </a:r>
            <a:endParaRPr lang="en-US" sz="1600" dirty="0"/>
          </a:p>
        </p:txBody>
      </p:sp>
      <p:sp>
        <p:nvSpPr>
          <p:cNvPr id="5" name="Shape 3"/>
          <p:cNvSpPr/>
          <p:nvPr/>
        </p:nvSpPr>
        <p:spPr>
          <a:xfrm>
            <a:off x="825500" y="4051300"/>
            <a:ext cx="0" cy="579120"/>
          </a:xfrm>
          <a:prstGeom prst="line">
            <a:avLst/>
          </a:prstGeom>
          <a:noFill/>
          <a:ln w="25400">
            <a:solidFill>
              <a:srgbClr val="5434E0"/>
            </a:solidFill>
            <a:prstDash val="solid"/>
          </a:ln>
        </p:spPr>
      </p:sp>
      <p:sp>
        <p:nvSpPr>
          <p:cNvPr id="6" name="Text 4"/>
          <p:cNvSpPr/>
          <p:nvPr/>
        </p:nvSpPr>
        <p:spPr>
          <a:xfrm>
            <a:off x="990600" y="4076700"/>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272"/>
                </a:solidFill>
                <a:latin typeface="JetBrains Mono" pitchFamily="49" charset="0"/>
                <a:ea typeface="JetBrains Mono" pitchFamily="49" charset="-122"/>
                <a:cs typeface="JetBrains Mono" pitchFamily="49" charset="-120"/>
              </a:rPr>
              <a:t>JEV QUESTION</a:t>
            </a:r>
            <a:endParaRPr lang="en-US" sz="1200" dirty="0"/>
          </a:p>
        </p:txBody>
      </p:sp>
      <p:sp>
        <p:nvSpPr>
          <p:cNvPr id="7" name="Text 5"/>
          <p:cNvSpPr/>
          <p:nvPr/>
        </p:nvSpPr>
        <p:spPr>
          <a:xfrm>
            <a:off x="990600" y="4340864"/>
            <a:ext cx="4002786"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51C"/>
                </a:solidFill>
                <a:latin typeface="DM Sans" pitchFamily="34" charset="0"/>
                <a:ea typeface="DM Sans" pitchFamily="34" charset="-122"/>
                <a:cs typeface="DM Sans" pitchFamily="34" charset="-120"/>
              </a:rPr>
              <a:t>noul: is this input safe to send?</a:t>
            </a:r>
            <a:endParaRPr lang="en-US" sz="1600" dirty="0"/>
          </a:p>
        </p:txBody>
      </p:sp>
      <p:pic>
        <p:nvPicPr>
          <p:cNvPr id="8" name="Image 0" descr="web embed">    </p:cNvPr>
          <p:cNvPicPr>
            <a:picLocks noChangeAspect="1"/>
          </p:cNvPicPr>
          <p:nvPr/>
        </p:nvPicPr>
        <p:blipFill>
          <a:blip r:embed="rId1"/>
          <a:srcRect l="0" r="0" t="0" b="0"/>
          <a:stretch/>
        </p:blipFill>
        <p:spPr>
          <a:xfrm>
            <a:off x="5283200" y="1295400"/>
            <a:ext cx="6096000" cy="4064000"/>
          </a:xfrm>
          <a:prstGeom prst="rect">
            <a:avLst/>
          </a:prstGeom>
        </p:spPr>
      </p:pic>
      <p:sp>
        <p:nvSpPr>
          <p:cNvPr id="9" name="Text 6"/>
          <p:cNvSpPr/>
          <p:nvPr/>
        </p:nvSpPr>
        <p:spPr>
          <a:xfrm>
            <a:off x="812800" y="6268721"/>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ByteByteGo, “Top 9 places to use Jev”. Example inputs are illustrative.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2024379"/>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SCENARIO 3 OF 9</a:t>
            </a:r>
            <a:endParaRPr lang="en-US" sz="1200" dirty="0"/>
          </a:p>
        </p:txBody>
      </p:sp>
      <p:sp>
        <p:nvSpPr>
          <p:cNvPr id="3" name="Text 1"/>
          <p:cNvSpPr/>
          <p:nvPr>
            <p:ph type="title"/>
          </p:nvPr>
        </p:nvSpPr>
        <p:spPr>
          <a:xfrm>
            <a:off x="812800" y="2390142"/>
            <a:ext cx="418592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Tool-call gating</a:t>
            </a:r>
            <a:endParaRPr lang="en-US" sz="3600" dirty="0"/>
          </a:p>
        </p:txBody>
      </p:sp>
      <p:sp>
        <p:nvSpPr>
          <p:cNvPr id="4" name="Text 2"/>
          <p:cNvSpPr/>
          <p:nvPr/>
        </p:nvSpPr>
        <p:spPr>
          <a:xfrm>
            <a:off x="812800" y="3045464"/>
            <a:ext cx="41859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When an agent wants to call a tool, Jev classifies the call: run it, ask the user first, or refuse.</a:t>
            </a:r>
            <a:endParaRPr lang="en-US" sz="1600" dirty="0"/>
          </a:p>
        </p:txBody>
      </p:sp>
      <p:sp>
        <p:nvSpPr>
          <p:cNvPr id="5" name="Shape 3"/>
          <p:cNvSpPr/>
          <p:nvPr/>
        </p:nvSpPr>
        <p:spPr>
          <a:xfrm>
            <a:off x="825500" y="4051300"/>
            <a:ext cx="0" cy="579120"/>
          </a:xfrm>
          <a:prstGeom prst="line">
            <a:avLst/>
          </a:prstGeom>
          <a:noFill/>
          <a:ln w="25400">
            <a:solidFill>
              <a:srgbClr val="5434E0"/>
            </a:solidFill>
            <a:prstDash val="solid"/>
          </a:ln>
        </p:spPr>
      </p:sp>
      <p:sp>
        <p:nvSpPr>
          <p:cNvPr id="6" name="Text 4"/>
          <p:cNvSpPr/>
          <p:nvPr/>
        </p:nvSpPr>
        <p:spPr>
          <a:xfrm>
            <a:off x="990600" y="4076700"/>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272"/>
                </a:solidFill>
                <a:latin typeface="JetBrains Mono" pitchFamily="49" charset="0"/>
                <a:ea typeface="JetBrains Mono" pitchFamily="49" charset="-122"/>
                <a:cs typeface="JetBrains Mono" pitchFamily="49" charset="-120"/>
              </a:rPr>
              <a:t>JEV QUESTION</a:t>
            </a:r>
            <a:endParaRPr lang="en-US" sz="1200" dirty="0"/>
          </a:p>
        </p:txBody>
      </p:sp>
      <p:sp>
        <p:nvSpPr>
          <p:cNvPr id="7" name="Text 5"/>
          <p:cNvSpPr/>
          <p:nvPr/>
        </p:nvSpPr>
        <p:spPr>
          <a:xfrm>
            <a:off x="990600" y="4340864"/>
            <a:ext cx="4002786"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51C"/>
                </a:solidFill>
                <a:latin typeface="DM Sans" pitchFamily="34" charset="0"/>
                <a:ea typeface="DM Sans" pitchFamily="34" charset="-122"/>
                <a:cs typeface="DM Sans" pitchFamily="34" charset="-120"/>
              </a:rPr>
              <a:t>choice: allow, ask or deny</a:t>
            </a:r>
            <a:endParaRPr lang="en-US" sz="1600" dirty="0"/>
          </a:p>
        </p:txBody>
      </p:sp>
      <p:pic>
        <p:nvPicPr>
          <p:cNvPr id="8" name="Image 0" descr="web embed">    </p:cNvPr>
          <p:cNvPicPr>
            <a:picLocks noChangeAspect="1"/>
          </p:cNvPicPr>
          <p:nvPr/>
        </p:nvPicPr>
        <p:blipFill>
          <a:blip r:embed="rId1"/>
          <a:srcRect l="0" r="0" t="0" b="0"/>
          <a:stretch/>
        </p:blipFill>
        <p:spPr>
          <a:xfrm>
            <a:off x="5283200" y="1295400"/>
            <a:ext cx="6096000" cy="4064000"/>
          </a:xfrm>
          <a:prstGeom prst="rect">
            <a:avLst/>
          </a:prstGeom>
        </p:spPr>
      </p:pic>
      <p:sp>
        <p:nvSpPr>
          <p:cNvPr id="9" name="Text 6"/>
          <p:cNvSpPr/>
          <p:nvPr/>
        </p:nvSpPr>
        <p:spPr>
          <a:xfrm>
            <a:off x="812800" y="6268721"/>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ByteByteGo, “Top 9 places to use Jev”. Example tool calls are illustrative.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2024379"/>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SCENARIO 4 OF 9</a:t>
            </a:r>
            <a:endParaRPr lang="en-US" sz="1200" dirty="0"/>
          </a:p>
        </p:txBody>
      </p:sp>
      <p:sp>
        <p:nvSpPr>
          <p:cNvPr id="3" name="Text 1"/>
          <p:cNvSpPr/>
          <p:nvPr>
            <p:ph type="title"/>
          </p:nvPr>
        </p:nvSpPr>
        <p:spPr>
          <a:xfrm>
            <a:off x="812800" y="2390142"/>
            <a:ext cx="418592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Inbox triage</a:t>
            </a:r>
            <a:endParaRPr lang="en-US" sz="3600" dirty="0"/>
          </a:p>
        </p:txBody>
      </p:sp>
      <p:sp>
        <p:nvSpPr>
          <p:cNvPr id="4" name="Text 2"/>
          <p:cNvSpPr/>
          <p:nvPr/>
        </p:nvSpPr>
        <p:spPr>
          <a:xfrm>
            <a:off x="812800" y="3045464"/>
            <a:ext cx="41859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Sort a flood of email into what needs a reply now, what can wait, and what to archive.</a:t>
            </a:r>
            <a:endParaRPr lang="en-US" sz="1600" dirty="0"/>
          </a:p>
        </p:txBody>
      </p:sp>
      <p:sp>
        <p:nvSpPr>
          <p:cNvPr id="5" name="Shape 3"/>
          <p:cNvSpPr/>
          <p:nvPr/>
        </p:nvSpPr>
        <p:spPr>
          <a:xfrm>
            <a:off x="825500" y="4051300"/>
            <a:ext cx="0" cy="579120"/>
          </a:xfrm>
          <a:prstGeom prst="line">
            <a:avLst/>
          </a:prstGeom>
          <a:noFill/>
          <a:ln w="25400">
            <a:solidFill>
              <a:srgbClr val="5434E0"/>
            </a:solidFill>
            <a:prstDash val="solid"/>
          </a:ln>
        </p:spPr>
      </p:sp>
      <p:sp>
        <p:nvSpPr>
          <p:cNvPr id="6" name="Text 4"/>
          <p:cNvSpPr/>
          <p:nvPr/>
        </p:nvSpPr>
        <p:spPr>
          <a:xfrm>
            <a:off x="990600" y="4076700"/>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272"/>
                </a:solidFill>
                <a:latin typeface="JetBrains Mono" pitchFamily="49" charset="0"/>
                <a:ea typeface="JetBrains Mono" pitchFamily="49" charset="-122"/>
                <a:cs typeface="JetBrains Mono" pitchFamily="49" charset="-120"/>
              </a:rPr>
              <a:t>JEV QUESTION</a:t>
            </a:r>
            <a:endParaRPr lang="en-US" sz="1200" dirty="0"/>
          </a:p>
        </p:txBody>
      </p:sp>
      <p:sp>
        <p:nvSpPr>
          <p:cNvPr id="7" name="Text 5"/>
          <p:cNvSpPr/>
          <p:nvPr/>
        </p:nvSpPr>
        <p:spPr>
          <a:xfrm>
            <a:off x="990600" y="4340864"/>
            <a:ext cx="4002786"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51C"/>
                </a:solidFill>
                <a:latin typeface="DM Sans" pitchFamily="34" charset="0"/>
                <a:ea typeface="DM Sans" pitchFamily="34" charset="-122"/>
                <a:cs typeface="DM Sans" pitchFamily="34" charset="-120"/>
              </a:rPr>
              <a:t>choice: reply now, later or archive</a:t>
            </a:r>
            <a:endParaRPr lang="en-US" sz="1600" dirty="0"/>
          </a:p>
        </p:txBody>
      </p:sp>
      <p:pic>
        <p:nvPicPr>
          <p:cNvPr id="8" name="Image 0" descr="web embed">    </p:cNvPr>
          <p:cNvPicPr>
            <a:picLocks noChangeAspect="1"/>
          </p:cNvPicPr>
          <p:nvPr/>
        </p:nvPicPr>
        <p:blipFill>
          <a:blip r:embed="rId1"/>
          <a:srcRect l="0" r="0" t="0" b="0"/>
          <a:stretch/>
        </p:blipFill>
        <p:spPr>
          <a:xfrm>
            <a:off x="5283200" y="1295400"/>
            <a:ext cx="6096000" cy="4064000"/>
          </a:xfrm>
          <a:prstGeom prst="rect">
            <a:avLst/>
          </a:prstGeom>
        </p:spPr>
      </p:pic>
      <p:sp>
        <p:nvSpPr>
          <p:cNvPr id="9" name="Text 6"/>
          <p:cNvSpPr/>
          <p:nvPr/>
        </p:nvSpPr>
        <p:spPr>
          <a:xfrm>
            <a:off x="812800" y="6268721"/>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ByteByteGo, “Top 9 places to use Jev”. Example emails are illustrative.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1892300"/>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SCENARIO 5 OF 9</a:t>
            </a:r>
            <a:endParaRPr lang="en-US" sz="1200" dirty="0"/>
          </a:p>
        </p:txBody>
      </p:sp>
      <p:sp>
        <p:nvSpPr>
          <p:cNvPr id="3" name="Text 1"/>
          <p:cNvSpPr/>
          <p:nvPr>
            <p:ph type="title"/>
          </p:nvPr>
        </p:nvSpPr>
        <p:spPr>
          <a:xfrm>
            <a:off x="812800" y="2258064"/>
            <a:ext cx="418592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Reranking</a:t>
            </a:r>
            <a:endParaRPr lang="en-US" sz="3600" dirty="0"/>
          </a:p>
        </p:txBody>
      </p:sp>
      <p:sp>
        <p:nvSpPr>
          <p:cNvPr id="4" name="Text 2"/>
          <p:cNvSpPr/>
          <p:nvPr/>
        </p:nvSpPr>
        <p:spPr>
          <a:xfrm>
            <a:off x="812800" y="2913379"/>
            <a:ext cx="41859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Given a query and a set of passages, Jev scores each one for relevance so you keep the best.</a:t>
            </a:r>
            <a:endParaRPr lang="en-US" sz="1600" dirty="0"/>
          </a:p>
        </p:txBody>
      </p:sp>
      <p:sp>
        <p:nvSpPr>
          <p:cNvPr id="5" name="Shape 3"/>
          <p:cNvSpPr/>
          <p:nvPr/>
        </p:nvSpPr>
        <p:spPr>
          <a:xfrm>
            <a:off x="825500" y="3919221"/>
            <a:ext cx="0" cy="843280"/>
          </a:xfrm>
          <a:prstGeom prst="line">
            <a:avLst/>
          </a:prstGeom>
          <a:noFill/>
          <a:ln w="25400">
            <a:solidFill>
              <a:srgbClr val="5434E0"/>
            </a:solidFill>
            <a:prstDash val="solid"/>
          </a:ln>
        </p:spPr>
      </p:sp>
      <p:sp>
        <p:nvSpPr>
          <p:cNvPr id="6" name="Text 4"/>
          <p:cNvSpPr/>
          <p:nvPr/>
        </p:nvSpPr>
        <p:spPr>
          <a:xfrm>
            <a:off x="990600" y="3944621"/>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272"/>
                </a:solidFill>
                <a:latin typeface="JetBrains Mono" pitchFamily="49" charset="0"/>
                <a:ea typeface="JetBrains Mono" pitchFamily="49" charset="-122"/>
                <a:cs typeface="JetBrains Mono" pitchFamily="49" charset="-120"/>
              </a:rPr>
              <a:t>JEV QUESTION</a:t>
            </a:r>
            <a:endParaRPr lang="en-US" sz="1200" dirty="0"/>
          </a:p>
        </p:txBody>
      </p:sp>
      <p:sp>
        <p:nvSpPr>
          <p:cNvPr id="7" name="Text 5"/>
          <p:cNvSpPr/>
          <p:nvPr/>
        </p:nvSpPr>
        <p:spPr>
          <a:xfrm>
            <a:off x="990600" y="4208779"/>
            <a:ext cx="4002786"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51C"/>
                </a:solidFill>
                <a:latin typeface="DM Sans" pitchFamily="34" charset="0"/>
                <a:ea typeface="DM Sans" pitchFamily="34" charset="-122"/>
                <a:cs typeface="DM Sans" pitchFamily="34" charset="-120"/>
              </a:rPr>
              <a:t>score: how relevant is this passage to the query?</a:t>
            </a:r>
            <a:endParaRPr lang="en-US" sz="1600" dirty="0"/>
          </a:p>
        </p:txBody>
      </p:sp>
      <p:pic>
        <p:nvPicPr>
          <p:cNvPr id="8" name="Image 0" descr="web embed">    </p:cNvPr>
          <p:cNvPicPr>
            <a:picLocks noChangeAspect="1"/>
          </p:cNvPicPr>
          <p:nvPr/>
        </p:nvPicPr>
        <p:blipFill>
          <a:blip r:embed="rId1"/>
          <a:srcRect l="0" r="0" t="0" b="0"/>
          <a:stretch/>
        </p:blipFill>
        <p:spPr>
          <a:xfrm>
            <a:off x="5283200" y="1295400"/>
            <a:ext cx="6096000" cy="4064000"/>
          </a:xfrm>
          <a:prstGeom prst="rect">
            <a:avLst/>
          </a:prstGeom>
        </p:spPr>
      </p:pic>
      <p:sp>
        <p:nvSpPr>
          <p:cNvPr id="9" name="Text 6"/>
          <p:cNvSpPr/>
          <p:nvPr/>
        </p:nvSpPr>
        <p:spPr>
          <a:xfrm>
            <a:off x="812800" y="6268721"/>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ByteByteGo, “Top 9 places to use Jev”. Scores are the infographic’s; passages are illustrative.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2034542"/>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SCENARIO 6 OF 9</a:t>
            </a:r>
            <a:endParaRPr lang="en-US" sz="1200" dirty="0"/>
          </a:p>
        </p:txBody>
      </p:sp>
      <p:sp>
        <p:nvSpPr>
          <p:cNvPr id="3" name="Text 1"/>
          <p:cNvSpPr/>
          <p:nvPr>
            <p:ph type="title"/>
          </p:nvPr>
        </p:nvSpPr>
        <p:spPr>
          <a:xfrm>
            <a:off x="812800" y="2400300"/>
            <a:ext cx="418592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LLM evals</a:t>
            </a:r>
            <a:endParaRPr lang="en-US" sz="3600" dirty="0"/>
          </a:p>
        </p:txBody>
      </p:sp>
      <p:sp>
        <p:nvSpPr>
          <p:cNvPr id="4" name="Text 2"/>
          <p:cNvSpPr/>
          <p:nvPr/>
        </p:nvSpPr>
        <p:spPr>
          <a:xfrm>
            <a:off x="812800" y="3055627"/>
            <a:ext cx="418592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Have Jev grade another model’s output on a fixed scale, quickly and at low cost.</a:t>
            </a:r>
            <a:endParaRPr lang="en-US" sz="1600" dirty="0"/>
          </a:p>
        </p:txBody>
      </p:sp>
      <p:sp>
        <p:nvSpPr>
          <p:cNvPr id="5" name="Shape 3"/>
          <p:cNvSpPr/>
          <p:nvPr/>
        </p:nvSpPr>
        <p:spPr>
          <a:xfrm>
            <a:off x="825500" y="3776985"/>
            <a:ext cx="0" cy="843280"/>
          </a:xfrm>
          <a:prstGeom prst="line">
            <a:avLst/>
          </a:prstGeom>
          <a:noFill/>
          <a:ln w="25400">
            <a:solidFill>
              <a:srgbClr val="5434E0"/>
            </a:solidFill>
            <a:prstDash val="solid"/>
          </a:ln>
        </p:spPr>
      </p:sp>
      <p:sp>
        <p:nvSpPr>
          <p:cNvPr id="6" name="Text 4"/>
          <p:cNvSpPr/>
          <p:nvPr/>
        </p:nvSpPr>
        <p:spPr>
          <a:xfrm>
            <a:off x="990600" y="3802385"/>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272"/>
                </a:solidFill>
                <a:latin typeface="JetBrains Mono" pitchFamily="49" charset="0"/>
                <a:ea typeface="JetBrains Mono" pitchFamily="49" charset="-122"/>
                <a:cs typeface="JetBrains Mono" pitchFamily="49" charset="-120"/>
              </a:rPr>
              <a:t>JEV QUESTION</a:t>
            </a:r>
            <a:endParaRPr lang="en-US" sz="1200" dirty="0"/>
          </a:p>
        </p:txBody>
      </p:sp>
      <p:sp>
        <p:nvSpPr>
          <p:cNvPr id="7" name="Text 5"/>
          <p:cNvSpPr/>
          <p:nvPr/>
        </p:nvSpPr>
        <p:spPr>
          <a:xfrm>
            <a:off x="990600" y="4066542"/>
            <a:ext cx="4002786"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51C"/>
                </a:solidFill>
                <a:latin typeface="DM Sans" pitchFamily="34" charset="0"/>
                <a:ea typeface="DM Sans" pitchFamily="34" charset="-122"/>
                <a:cs typeface="DM Sans" pitchFamily="34" charset="-120"/>
              </a:rPr>
              <a:t>score: how good is this answer, from 1 to 5?</a:t>
            </a:r>
            <a:endParaRPr lang="en-US" sz="1600" dirty="0"/>
          </a:p>
        </p:txBody>
      </p:sp>
      <p:pic>
        <p:nvPicPr>
          <p:cNvPr id="8" name="Image 0" descr="web embed">    </p:cNvPr>
          <p:cNvPicPr>
            <a:picLocks noChangeAspect="1"/>
          </p:cNvPicPr>
          <p:nvPr/>
        </p:nvPicPr>
        <p:blipFill>
          <a:blip r:embed="rId1"/>
          <a:srcRect l="0" r="0" t="0" b="0"/>
          <a:stretch/>
        </p:blipFill>
        <p:spPr>
          <a:xfrm>
            <a:off x="5283200" y="1295400"/>
            <a:ext cx="6096000" cy="4064000"/>
          </a:xfrm>
          <a:prstGeom prst="rect">
            <a:avLst/>
          </a:prstGeom>
        </p:spPr>
      </p:pic>
      <p:sp>
        <p:nvSpPr>
          <p:cNvPr id="9" name="Text 6"/>
          <p:cNvSpPr/>
          <p:nvPr/>
        </p:nvSpPr>
        <p:spPr>
          <a:xfrm>
            <a:off x="812800" y="6268727"/>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ByteByteGo, “Top 9 places to use Jev”. Example answers and scores are illustrative.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2024385"/>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SCENARIO 7 OF 9</a:t>
            </a:r>
            <a:endParaRPr lang="en-US" sz="1200" dirty="0"/>
          </a:p>
        </p:txBody>
      </p:sp>
      <p:sp>
        <p:nvSpPr>
          <p:cNvPr id="3" name="Text 1"/>
          <p:cNvSpPr/>
          <p:nvPr>
            <p:ph type="title"/>
          </p:nvPr>
        </p:nvSpPr>
        <p:spPr>
          <a:xfrm>
            <a:off x="812800" y="2390142"/>
            <a:ext cx="418592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Bulk labeling</a:t>
            </a:r>
            <a:endParaRPr lang="en-US" sz="3600" dirty="0"/>
          </a:p>
        </p:txBody>
      </p:sp>
      <p:sp>
        <p:nvSpPr>
          <p:cNvPr id="4" name="Text 2"/>
          <p:cNvSpPr/>
          <p:nvPr/>
        </p:nvSpPr>
        <p:spPr>
          <a:xfrm>
            <a:off x="812800" y="3045458"/>
            <a:ext cx="41859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Apply the same decision to every row of a huge table, map-reduce style, and get a label for each.</a:t>
            </a:r>
            <a:endParaRPr lang="en-US" sz="1600" dirty="0"/>
          </a:p>
        </p:txBody>
      </p:sp>
      <p:sp>
        <p:nvSpPr>
          <p:cNvPr id="5" name="Shape 3"/>
          <p:cNvSpPr/>
          <p:nvPr/>
        </p:nvSpPr>
        <p:spPr>
          <a:xfrm>
            <a:off x="825500" y="4051300"/>
            <a:ext cx="0" cy="579120"/>
          </a:xfrm>
          <a:prstGeom prst="line">
            <a:avLst/>
          </a:prstGeom>
          <a:noFill/>
          <a:ln w="25400">
            <a:solidFill>
              <a:srgbClr val="5434E0"/>
            </a:solidFill>
            <a:prstDash val="solid"/>
          </a:ln>
        </p:spPr>
      </p:sp>
      <p:sp>
        <p:nvSpPr>
          <p:cNvPr id="6" name="Text 4"/>
          <p:cNvSpPr/>
          <p:nvPr/>
        </p:nvSpPr>
        <p:spPr>
          <a:xfrm>
            <a:off x="990600" y="4076700"/>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272"/>
                </a:solidFill>
                <a:latin typeface="JetBrains Mono" pitchFamily="49" charset="0"/>
                <a:ea typeface="JetBrains Mono" pitchFamily="49" charset="-122"/>
                <a:cs typeface="JetBrains Mono" pitchFamily="49" charset="-120"/>
              </a:rPr>
              <a:t>JEV QUESTION</a:t>
            </a:r>
            <a:endParaRPr lang="en-US" sz="1200" dirty="0"/>
          </a:p>
        </p:txBody>
      </p:sp>
      <p:sp>
        <p:nvSpPr>
          <p:cNvPr id="7" name="Text 5"/>
          <p:cNvSpPr/>
          <p:nvPr/>
        </p:nvSpPr>
        <p:spPr>
          <a:xfrm>
            <a:off x="990600" y="4340858"/>
            <a:ext cx="4002786"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51C"/>
                </a:solidFill>
                <a:latin typeface="DM Sans" pitchFamily="34" charset="0"/>
                <a:ea typeface="DM Sans" pitchFamily="34" charset="-122"/>
                <a:cs typeface="DM Sans" pitchFamily="34" charset="-120"/>
              </a:rPr>
              <a:t>choice: which label fits this row?</a:t>
            </a:r>
            <a:endParaRPr lang="en-US" sz="1600" dirty="0"/>
          </a:p>
        </p:txBody>
      </p:sp>
      <p:pic>
        <p:nvPicPr>
          <p:cNvPr id="8" name="Image 0" descr="web embed">    </p:cNvPr>
          <p:cNvPicPr>
            <a:picLocks noChangeAspect="1"/>
          </p:cNvPicPr>
          <p:nvPr/>
        </p:nvPicPr>
        <p:blipFill>
          <a:blip r:embed="rId1"/>
          <a:srcRect l="0" r="0" t="0" b="0"/>
          <a:stretch/>
        </p:blipFill>
        <p:spPr>
          <a:xfrm>
            <a:off x="5283200" y="1295400"/>
            <a:ext cx="6096000" cy="4064000"/>
          </a:xfrm>
          <a:prstGeom prst="rect">
            <a:avLst/>
          </a:prstGeom>
        </p:spPr>
      </p:pic>
      <p:sp>
        <p:nvSpPr>
          <p:cNvPr id="9" name="Text 6"/>
          <p:cNvSpPr/>
          <p:nvPr/>
        </p:nvSpPr>
        <p:spPr>
          <a:xfrm>
            <a:off x="812800" y="6268727"/>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ByteByteGo, “Top 9 places to use Jev”. Labels A, B and C are placeholders.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2166627"/>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SCENARIO 8 OF 9</a:t>
            </a:r>
            <a:endParaRPr lang="en-US" sz="1200" dirty="0"/>
          </a:p>
        </p:txBody>
      </p:sp>
      <p:sp>
        <p:nvSpPr>
          <p:cNvPr id="3" name="Text 1"/>
          <p:cNvSpPr/>
          <p:nvPr>
            <p:ph type="title"/>
          </p:nvPr>
        </p:nvSpPr>
        <p:spPr>
          <a:xfrm>
            <a:off x="812800" y="2532385"/>
            <a:ext cx="418592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Real-time control</a:t>
            </a:r>
            <a:endParaRPr lang="en-US" sz="3600" dirty="0"/>
          </a:p>
        </p:txBody>
      </p:sp>
      <p:sp>
        <p:nvSpPr>
          <p:cNvPr id="4" name="Text 2"/>
          <p:cNvSpPr/>
          <p:nvPr/>
        </p:nvSpPr>
        <p:spPr>
          <a:xfrm>
            <a:off x="812800" y="3187700"/>
            <a:ext cx="418592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In a loop that runs every 300 ms, Jev reads the current state and picks the next action.</a:t>
            </a:r>
            <a:endParaRPr lang="en-US" sz="1600" dirty="0"/>
          </a:p>
        </p:txBody>
      </p:sp>
      <p:sp>
        <p:nvSpPr>
          <p:cNvPr id="5" name="Shape 3"/>
          <p:cNvSpPr/>
          <p:nvPr/>
        </p:nvSpPr>
        <p:spPr>
          <a:xfrm>
            <a:off x="825500" y="3909058"/>
            <a:ext cx="0" cy="579120"/>
          </a:xfrm>
          <a:prstGeom prst="line">
            <a:avLst/>
          </a:prstGeom>
          <a:noFill/>
          <a:ln w="25400">
            <a:solidFill>
              <a:srgbClr val="5434E0"/>
            </a:solidFill>
            <a:prstDash val="solid"/>
          </a:ln>
        </p:spPr>
      </p:sp>
      <p:sp>
        <p:nvSpPr>
          <p:cNvPr id="6" name="Text 4"/>
          <p:cNvSpPr/>
          <p:nvPr/>
        </p:nvSpPr>
        <p:spPr>
          <a:xfrm>
            <a:off x="990600" y="3934458"/>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272"/>
                </a:solidFill>
                <a:latin typeface="JetBrains Mono" pitchFamily="49" charset="0"/>
                <a:ea typeface="JetBrains Mono" pitchFamily="49" charset="-122"/>
                <a:cs typeface="JetBrains Mono" pitchFamily="49" charset="-120"/>
              </a:rPr>
              <a:t>JEV QUESTION</a:t>
            </a:r>
            <a:endParaRPr lang="en-US" sz="1200" dirty="0"/>
          </a:p>
        </p:txBody>
      </p:sp>
      <p:sp>
        <p:nvSpPr>
          <p:cNvPr id="7" name="Text 5"/>
          <p:cNvSpPr/>
          <p:nvPr/>
        </p:nvSpPr>
        <p:spPr>
          <a:xfrm>
            <a:off x="990600" y="4198627"/>
            <a:ext cx="4002786"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51C"/>
                </a:solidFill>
                <a:latin typeface="DM Sans" pitchFamily="34" charset="0"/>
                <a:ea typeface="DM Sans" pitchFamily="34" charset="-122"/>
                <a:cs typeface="DM Sans" pitchFamily="34" charset="-120"/>
              </a:rPr>
              <a:t>choice: which action comes next?</a:t>
            </a:r>
            <a:endParaRPr lang="en-US" sz="1600" dirty="0"/>
          </a:p>
        </p:txBody>
      </p:sp>
      <p:pic>
        <p:nvPicPr>
          <p:cNvPr id="8" name="Image 0" descr="web embed">    </p:cNvPr>
          <p:cNvPicPr>
            <a:picLocks noChangeAspect="1"/>
          </p:cNvPicPr>
          <p:nvPr/>
        </p:nvPicPr>
        <p:blipFill>
          <a:blip r:embed="rId1"/>
          <a:srcRect l="0" r="0" t="0" b="0"/>
          <a:stretch/>
        </p:blipFill>
        <p:spPr>
          <a:xfrm>
            <a:off x="5283200" y="1295400"/>
            <a:ext cx="6096000" cy="4064000"/>
          </a:xfrm>
          <a:prstGeom prst="rect">
            <a:avLst/>
          </a:prstGeom>
        </p:spPr>
      </p:pic>
      <p:sp>
        <p:nvSpPr>
          <p:cNvPr id="9" name="Text 6"/>
          <p:cNvSpPr/>
          <p:nvPr/>
        </p:nvSpPr>
        <p:spPr>
          <a:xfrm>
            <a:off x="812800" y="6268727"/>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ByteByteGo, “Top 9 places to use Jev”. The demo is slowed down; actions jump, duck and dodge are illustrative.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1892300"/>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434E0"/>
                </a:solidFill>
                <a:latin typeface="JetBrains Mono" pitchFamily="49" charset="0"/>
                <a:ea typeface="JetBrains Mono" pitchFamily="49" charset="-122"/>
                <a:cs typeface="JetBrains Mono" pitchFamily="49" charset="-120"/>
              </a:rPr>
              <a:t>SCENARIO 9 OF 9</a:t>
            </a:r>
            <a:endParaRPr lang="en-US" sz="1200" dirty="0"/>
          </a:p>
        </p:txBody>
      </p:sp>
      <p:sp>
        <p:nvSpPr>
          <p:cNvPr id="3" name="Text 1"/>
          <p:cNvSpPr/>
          <p:nvPr>
            <p:ph type="title"/>
          </p:nvPr>
        </p:nvSpPr>
        <p:spPr>
          <a:xfrm>
            <a:off x="812800" y="2258058"/>
            <a:ext cx="418592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51C"/>
                </a:solidFill>
                <a:latin typeface="Space Grotesk" pitchFamily="34" charset="0"/>
                <a:ea typeface="Space Grotesk" pitchFamily="34" charset="-122"/>
                <a:cs typeface="Space Grotesk" pitchFamily="34" charset="-120"/>
              </a:rPr>
              <a:t>Confidence gate</a:t>
            </a:r>
            <a:endParaRPr lang="en-US" sz="3600" dirty="0"/>
          </a:p>
        </p:txBody>
      </p:sp>
      <p:sp>
        <p:nvSpPr>
          <p:cNvPr id="4" name="Text 2"/>
          <p:cNvSpPr/>
          <p:nvPr/>
        </p:nvSpPr>
        <p:spPr>
          <a:xfrm>
            <a:off x="812800" y="2913385"/>
            <a:ext cx="41859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65A"/>
                </a:solidFill>
                <a:latin typeface="DM Sans" pitchFamily="34" charset="0"/>
                <a:ea typeface="DM Sans" pitchFamily="34" charset="-122"/>
                <a:cs typeface="DM Sans" pitchFamily="34" charset="-120"/>
              </a:rPr>
              <a:t>Act automatically when confidence is high, confirm when it is middling, and hand off to a human when it is low.</a:t>
            </a:r>
            <a:endParaRPr lang="en-US" sz="1600" dirty="0"/>
          </a:p>
        </p:txBody>
      </p:sp>
      <p:sp>
        <p:nvSpPr>
          <p:cNvPr id="5" name="Shape 3"/>
          <p:cNvSpPr/>
          <p:nvPr/>
        </p:nvSpPr>
        <p:spPr>
          <a:xfrm>
            <a:off x="825500" y="3919227"/>
            <a:ext cx="0" cy="843280"/>
          </a:xfrm>
          <a:prstGeom prst="line">
            <a:avLst/>
          </a:prstGeom>
          <a:noFill/>
          <a:ln w="25400">
            <a:solidFill>
              <a:srgbClr val="5434E0"/>
            </a:solidFill>
            <a:prstDash val="solid"/>
          </a:ln>
        </p:spPr>
      </p:sp>
      <p:sp>
        <p:nvSpPr>
          <p:cNvPr id="6" name="Text 4"/>
          <p:cNvSpPr/>
          <p:nvPr/>
        </p:nvSpPr>
        <p:spPr>
          <a:xfrm>
            <a:off x="990600" y="3944627"/>
            <a:ext cx="40027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272"/>
                </a:solidFill>
                <a:latin typeface="JetBrains Mono" pitchFamily="49" charset="0"/>
                <a:ea typeface="JetBrains Mono" pitchFamily="49" charset="-122"/>
                <a:cs typeface="JetBrains Mono" pitchFamily="49" charset="-120"/>
              </a:rPr>
              <a:t>JEV QUESTION</a:t>
            </a:r>
            <a:endParaRPr lang="en-US" sz="1200" dirty="0"/>
          </a:p>
        </p:txBody>
      </p:sp>
      <p:sp>
        <p:nvSpPr>
          <p:cNvPr id="7" name="Text 5"/>
          <p:cNvSpPr/>
          <p:nvPr/>
        </p:nvSpPr>
        <p:spPr>
          <a:xfrm>
            <a:off x="990600" y="4208785"/>
            <a:ext cx="4002786"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51C"/>
                </a:solidFill>
                <a:latin typeface="DM Sans" pitchFamily="34" charset="0"/>
                <a:ea typeface="DM Sans" pitchFamily="34" charset="-122"/>
                <a:cs typeface="DM Sans" pitchFamily="34" charset="-120"/>
              </a:rPr>
              <a:t>any question, read with its confidence value</a:t>
            </a:r>
            <a:endParaRPr lang="en-US" sz="1600" dirty="0"/>
          </a:p>
        </p:txBody>
      </p:sp>
      <p:pic>
        <p:nvPicPr>
          <p:cNvPr id="8" name="Image 0" descr="web embed">    </p:cNvPr>
          <p:cNvPicPr>
            <a:picLocks noChangeAspect="1"/>
          </p:cNvPicPr>
          <p:nvPr/>
        </p:nvPicPr>
        <p:blipFill>
          <a:blip r:embed="rId1"/>
          <a:srcRect l="0" r="0" t="0" b="0"/>
          <a:stretch/>
        </p:blipFill>
        <p:spPr>
          <a:xfrm>
            <a:off x="5283200" y="1295400"/>
            <a:ext cx="6096000" cy="4064000"/>
          </a:xfrm>
          <a:prstGeom prst="rect">
            <a:avLst/>
          </a:prstGeom>
        </p:spPr>
      </p:pic>
      <p:sp>
        <p:nvSpPr>
          <p:cNvPr id="9" name="Text 6"/>
          <p:cNvSpPr/>
          <p:nvPr/>
        </p:nvSpPr>
        <p:spPr>
          <a:xfrm>
            <a:off x="812800" y="6268727"/>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272"/>
                </a:solidFill>
                <a:latin typeface="DM Sans" pitchFamily="34" charset="0"/>
                <a:ea typeface="DM Sans" pitchFamily="34" charset="-122"/>
                <a:cs typeface="DM Sans" pitchFamily="34" charset="-120"/>
              </a:rPr>
              <a:t>Source: ByteByteGo, “Top 9 places to use Jev”. Thresholds are the infographic’s examples.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5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96FF"/>
                </a:solidFill>
                <a:latin typeface="JetBrains Mono" pitchFamily="49" charset="0"/>
                <a:ea typeface="JetBrains Mono" pitchFamily="49" charset="-122"/>
                <a:cs typeface="JetBrains Mono" pitchFamily="49" charset="-120"/>
              </a:rPr>
              <a:t>REFERENCES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Sources</a:t>
            </a:r>
            <a:endParaRPr lang="en-US" sz="3600" dirty="0"/>
          </a:p>
        </p:txBody>
      </p:sp>
      <p:sp>
        <p:nvSpPr>
          <p:cNvPr id="4" name="Text 2"/>
          <p:cNvSpPr/>
          <p:nvPr/>
        </p:nvSpPr>
        <p:spPr>
          <a:xfrm>
            <a:off x="911606" y="1935485"/>
            <a:ext cx="5125974" cy="2341880"/>
          </a:xfrm>
          <a:prstGeom prst="rect">
            <a:avLst/>
          </a:prstGeom>
          <a:noFill/>
          <a:ln/>
        </p:spPr>
        <p:txBody>
          <a:bodyPr wrap="square" lIns="0" tIns="0" rIns="0" bIns="0" rtlCol="0" anchor="t">
            <a:normAutofit/>
          </a:bodyPr>
          <a:lstStyle/>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ByteByteGo: Top 9 places to use Jev</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InfoQ: TypeSafe AI releases Jev</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Fortune: Jev goes viral, OpenAI follows</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 Rundown: ChatGPT co-creator’s new AI</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LangChain: What is Jev?</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Towards Data Science: Jev vs. LLMs</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eesel.ai: Laya, the open 33 ms decision model</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arXiv: Training language models to follow instructions (InstructGPT)</a:t>
            </a:r>
            <a:endParaRPr lang="en-US" sz="1200" dirty="0"/>
          </a:p>
        </p:txBody>
      </p:sp>
      <p:sp>
        <p:nvSpPr>
          <p:cNvPr id="5" name="Text 3"/>
          <p:cNvSpPr/>
          <p:nvPr/>
        </p:nvSpPr>
        <p:spPr>
          <a:xfrm>
            <a:off x="6398006" y="1935485"/>
            <a:ext cx="5125974" cy="2341880"/>
          </a:xfrm>
          <a:prstGeom prst="rect">
            <a:avLst/>
          </a:prstGeom>
          <a:noFill/>
          <a:ln/>
        </p:spPr>
        <p:txBody>
          <a:bodyPr wrap="square" lIns="0" tIns="0" rIns="0" bIns="0" rtlCol="0" anchor="t">
            <a:normAutofit/>
          </a:bodyPr>
          <a:lstStyle/>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MindStudio: Jev explained</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dsebastien.net: Jev and System One models</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OpenRouter: TypeSafe Jev 1.13</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TypeSafe documentation</a:t>
            </a:r>
            <a:endParaRPr lang="en-US" sz="1200" dirty="0"/>
          </a:p>
          <a:p>
            <a:pPr algn="l" marL="155194" indent="-155194">
              <a:lnSpc>
                <a:spcPts val="2280"/>
              </a:lnSpc>
              <a:buSzPct val="100000"/>
              <a:buChar char="•"/>
            </a:pPr>
            <a:r>
              <a:rPr lang="en-US" sz="1200" u="sng" dirty="0">
                <a:solidFill>
                  <a:srgbClr val="C8CBD8"/>
                </a:solidFill>
                <a:latin typeface="DM Sans" pitchFamily="34" charset="0"/>
                <a:ea typeface="DM Sans" pitchFamily="34" charset="-122"/>
                <a:cs typeface="DM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LessWrong: Dual process theory</a:t>
            </a:r>
            <a:endParaRPr lang="en-US" sz="1200" dirty="0"/>
          </a:p>
          <a:p>
            <a:pPr algn="l" marL="155194" indent="-155194">
              <a:lnSpc>
                <a:spcPts val="2280"/>
              </a:lnSpc>
              <a:buSzPct val="100000"/>
              <a:buChar char="•"/>
            </a:pPr>
            <a:r>
              <a:rPr lang="en-US" sz="1200" dirty="0">
                <a:solidFill>
                  <a:srgbClr val="C8CBD8"/>
                </a:solidFill>
                <a:latin typeface="DM Sans" pitchFamily="34" charset="0"/>
                <a:ea typeface="DM Sans" pitchFamily="34" charset="-122"/>
                <a:cs typeface="DM Sans" pitchFamily="34" charset="-120"/>
              </a:rPr>
              <a:t>Daniel Kahneman, Thinking, Fast and Slow (2011)</a:t>
            </a:r>
            <a:endParaRPr lang="en-US" sz="1200" dirty="0"/>
          </a:p>
        </p:txBody>
      </p:sp>
    </p:spTree>
  </p:cSld>
  <p:clrMapOvr>
    <a:masterClrMapping/>
  </p:clrMapOvr>
</p:sld>
</file>

<file path=ppt/theme/theme1.xml><?xml version="1.0" encoding="utf-8"?>
<a:theme xmlns:a="http://schemas.openxmlformats.org/drawingml/2006/main" name="Jev: origin, System One models and nine scenarios">
  <a:themeElements>
    <a:clrScheme name="Jev: origin, System One models and nine scenarios">
      <a:dk1>
        <a:srgbClr val="14151C"/>
      </a:dk1>
      <a:lt1>
        <a:srgbClr val="F4F1EA"/>
      </a:lt1>
      <a:dk2>
        <a:srgbClr val="4C4C50"/>
      </a:dk2>
      <a:lt2>
        <a:srgbClr val="DEDBD5"/>
      </a:lt2>
      <a:accent1>
        <a:srgbClr val="5434E0"/>
      </a:accent1>
      <a:accent2>
        <a:srgbClr val="6A4CF0"/>
      </a:accent2>
      <a:accent3>
        <a:srgbClr val="A996FF"/>
      </a:accent3>
      <a:accent4>
        <a:srgbClr val="F2A83B"/>
      </a:accent4>
      <a:accent5>
        <a:srgbClr val="43465A"/>
      </a:accent5>
      <a:accent6>
        <a:srgbClr val="5F6272"/>
      </a:accent6>
      <a:hlink>
        <a:srgbClr val="0563C1"/>
      </a:hlink>
      <a:folHlink>
        <a:srgbClr val="954F72"/>
      </a:folHlink>
    </a:clrScheme>
    <a:fontScheme name="Jev: origin, System One models and nine scenario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Jev: origin, System One models and nine scenarios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2026-10-26T22:37:06Z</dcterms:created>
  <dcterms:modified xsi:type="dcterms:W3CDTF">2026-10-26T22:37:06Z</dcterms:modified>
</cp:coreProperties>
</file>